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39"/>
  </p:notesMasterIdLst>
  <p:handoutMasterIdLst>
    <p:handoutMasterId r:id="rId40"/>
  </p:handoutMasterIdLst>
  <p:sldIdLst>
    <p:sldId id="256" r:id="rId5"/>
    <p:sldId id="258" r:id="rId6"/>
    <p:sldId id="306" r:id="rId7"/>
    <p:sldId id="259" r:id="rId8"/>
    <p:sldId id="300" r:id="rId9"/>
    <p:sldId id="260" r:id="rId10"/>
    <p:sldId id="298" r:id="rId11"/>
    <p:sldId id="307" r:id="rId12"/>
    <p:sldId id="308" r:id="rId13"/>
    <p:sldId id="309" r:id="rId14"/>
    <p:sldId id="299" r:id="rId15"/>
    <p:sldId id="310" r:id="rId16"/>
    <p:sldId id="313" r:id="rId17"/>
    <p:sldId id="314" r:id="rId18"/>
    <p:sldId id="317" r:id="rId19"/>
    <p:sldId id="316" r:id="rId20"/>
    <p:sldId id="315" r:id="rId21"/>
    <p:sldId id="318" r:id="rId22"/>
    <p:sldId id="320" r:id="rId23"/>
    <p:sldId id="319" r:id="rId24"/>
    <p:sldId id="321" r:id="rId25"/>
    <p:sldId id="311" r:id="rId26"/>
    <p:sldId id="312" r:id="rId27"/>
    <p:sldId id="323" r:id="rId28"/>
    <p:sldId id="324" r:id="rId29"/>
    <p:sldId id="325" r:id="rId30"/>
    <p:sldId id="326" r:id="rId31"/>
    <p:sldId id="285" r:id="rId32"/>
    <p:sldId id="301" r:id="rId33"/>
    <p:sldId id="302" r:id="rId34"/>
    <p:sldId id="303" r:id="rId35"/>
    <p:sldId id="304" r:id="rId36"/>
    <p:sldId id="305" r:id="rId37"/>
    <p:sldId id="327" r:id="rId38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8C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4F6638-A99F-43B0-A46C-F83BF3350878}" v="66" dt="2026-04-30T07:49:13.548"/>
    <p1510:client id="{645AB230-F785-41E5-B9C3-65C7B6428588}" v="522" dt="2026-04-30T05:55:00.544"/>
    <p1510:client id="{9DB3581E-0D4B-423A-9314-A79F685CC1FF}" v="233" dt="2026-04-30T05:04:24.377"/>
    <p1510:client id="{DCE3CAEC-6293-40EB-800C-9C6804AAF519}" v="279" dt="2026-04-30T03:44:39.958"/>
    <p1510:client id="{E644A177-CF58-4BD2-847A-C5ACC1F41D27}" v="208" dt="2026-04-30T05:35:33.883"/>
    <p1510:client id="{E8E18683-A148-4987-B76C-BF1414CB7C90}" v="31" dt="2026-04-30T03:55:14.50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handoutMaster" Target="handoutMasters/handoutMaster1.xml"/><Relationship Id="rId45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4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3E6278-76DB-4A73-9925-7A62DB09A96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C9D492-D22C-4BDB-9C37-0C994CDAFBB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03ECD1-1A39-4F0B-88A2-EB12499E963E}" type="datetimeFigureOut">
              <a:rPr lang="x-none" smtClean="0"/>
              <a:t>4/30/2026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FA6835-99DD-4F47-AA86-FEFD7DE78E2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F0A825-468F-4698-805A-EA1163C77D5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4C2934-52B5-479C-BBAC-536DE20938A7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75687742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572D57-DAB4-41BC-A05D-A71D86DA5C08}" type="datetimeFigureOut">
              <a:rPr lang="en-GB" smtClean="0"/>
              <a:t>30/04/2026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78BE82-CA5A-4F93-AE93-A0E47A2A05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694273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78BE82-CA5A-4F93-AE93-A0E47A2A050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71726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1- main</a:t>
            </a:r>
            <a:r>
              <a:rPr lang="en-GB" baseline="0"/>
              <a:t> usage social media </a:t>
            </a:r>
          </a:p>
          <a:p>
            <a:r>
              <a:rPr lang="en-GB" baseline="0"/>
              <a:t>2- twitter </a:t>
            </a:r>
            <a:r>
              <a:rPr lang="en-GB" baseline="0" err="1"/>
              <a:t>facebook</a:t>
            </a:r>
            <a:endParaRPr lang="en-GB" baseline="0"/>
          </a:p>
          <a:p>
            <a:r>
              <a:rPr lang="en-GB" baseline="0"/>
              <a:t>3- usage of </a:t>
            </a:r>
            <a:r>
              <a:rPr lang="en-GB" baseline="0" err="1"/>
              <a:t>twiiter</a:t>
            </a:r>
            <a:r>
              <a:rPr lang="en-GB" baseline="0"/>
              <a:t> entertainment</a:t>
            </a:r>
          </a:p>
          <a:p>
            <a:r>
              <a:rPr lang="en-GB" baseline="0"/>
              <a:t>4- share </a:t>
            </a:r>
            <a:r>
              <a:rPr lang="en-GB" baseline="0" err="1"/>
              <a:t>karty</a:t>
            </a:r>
            <a:r>
              <a:rPr lang="en-GB" baseline="0"/>
              <a:t> </a:t>
            </a:r>
            <a:r>
              <a:rPr lang="en-GB" baseline="0" err="1"/>
              <a:t>hain</a:t>
            </a:r>
            <a:r>
              <a:rPr lang="en-GB" baseline="0"/>
              <a:t> news without authentication of current affairs</a:t>
            </a:r>
          </a:p>
          <a:p>
            <a:r>
              <a:rPr lang="en-GB" baseline="0"/>
              <a:t>5- schemers is </a:t>
            </a:r>
            <a:r>
              <a:rPr lang="en-GB" baseline="0" err="1"/>
              <a:t>ka</a:t>
            </a:r>
            <a:r>
              <a:rPr lang="en-GB" baseline="0"/>
              <a:t> </a:t>
            </a:r>
            <a:r>
              <a:rPr lang="en-GB" baseline="0" err="1"/>
              <a:t>faida</a:t>
            </a:r>
            <a:r>
              <a:rPr lang="en-GB" baseline="0"/>
              <a:t> </a:t>
            </a:r>
            <a:r>
              <a:rPr lang="en-GB" baseline="0" err="1"/>
              <a:t>uthaty</a:t>
            </a:r>
            <a:r>
              <a:rPr lang="en-GB" baseline="0"/>
              <a:t> </a:t>
            </a:r>
            <a:r>
              <a:rPr lang="en-GB" baseline="0" err="1"/>
              <a:t>hain</a:t>
            </a:r>
            <a:r>
              <a:rPr lang="en-GB" baseline="0"/>
              <a:t> yeah 1 thread ha</a:t>
            </a:r>
          </a:p>
          <a:p>
            <a:r>
              <a:rPr lang="en-GB" baseline="0"/>
              <a:t>6- </a:t>
            </a:r>
            <a:r>
              <a:rPr lang="en-GB" baseline="0" err="1"/>
              <a:t>isko</a:t>
            </a:r>
            <a:r>
              <a:rPr lang="en-GB" baseline="0"/>
              <a:t> overcome </a:t>
            </a:r>
            <a:r>
              <a:rPr lang="en-GB" baseline="0" err="1"/>
              <a:t>karnay</a:t>
            </a:r>
            <a:r>
              <a:rPr lang="en-GB" baseline="0"/>
              <a:t> </a:t>
            </a:r>
            <a:r>
              <a:rPr lang="en-GB" baseline="0" err="1"/>
              <a:t>kay</a:t>
            </a:r>
            <a:r>
              <a:rPr lang="en-GB" baseline="0"/>
              <a:t> </a:t>
            </a:r>
            <a:r>
              <a:rPr lang="en-GB" baseline="0" err="1"/>
              <a:t>liay</a:t>
            </a:r>
            <a:r>
              <a:rPr lang="en-GB" baseline="0"/>
              <a:t> </a:t>
            </a:r>
            <a:r>
              <a:rPr lang="en-GB" baseline="0" err="1"/>
              <a:t>bohat</a:t>
            </a:r>
            <a:r>
              <a:rPr lang="en-GB" baseline="0"/>
              <a:t> say </a:t>
            </a:r>
            <a:r>
              <a:rPr lang="en-GB" baseline="0" err="1"/>
              <a:t>reserachers</a:t>
            </a:r>
            <a:r>
              <a:rPr lang="en-GB" baseline="0"/>
              <a:t> nay different techniques use </a:t>
            </a:r>
            <a:r>
              <a:rPr lang="en-GB" baseline="0" err="1"/>
              <a:t>ki</a:t>
            </a:r>
            <a:r>
              <a:rPr lang="en-GB" baseline="0"/>
              <a:t> </a:t>
            </a:r>
            <a:r>
              <a:rPr lang="en-GB" baseline="0" err="1"/>
              <a:t>hain</a:t>
            </a:r>
            <a:r>
              <a:rPr lang="en-GB" baseline="0"/>
              <a:t> </a:t>
            </a:r>
            <a:r>
              <a:rPr lang="en-GB" baseline="0" err="1"/>
              <a:t>isay</a:t>
            </a:r>
            <a:r>
              <a:rPr lang="en-GB" baseline="0"/>
              <a:t> overcome </a:t>
            </a:r>
            <a:r>
              <a:rPr lang="en-GB" baseline="0" err="1"/>
              <a:t>karny</a:t>
            </a:r>
            <a:r>
              <a:rPr lang="en-GB" baseline="0"/>
              <a:t> </a:t>
            </a:r>
            <a:r>
              <a:rPr lang="en-GB" baseline="0" err="1"/>
              <a:t>ky</a:t>
            </a:r>
            <a:r>
              <a:rPr lang="en-GB" baseline="0"/>
              <a:t> </a:t>
            </a:r>
            <a:r>
              <a:rPr lang="en-GB" baseline="0" err="1"/>
              <a:t>liay</a:t>
            </a:r>
            <a:endParaRPr lang="en-GB" baseline="0"/>
          </a:p>
          <a:p>
            <a:endParaRPr lang="en-GB" baseline="0"/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78BE82-CA5A-4F93-AE93-A0E47A2A050A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16452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1AA9F-DD88-25C2-D29D-385CA18BB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B05A48-8280-0A65-CAA5-6789AC4279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F90C08-F364-52BB-6F31-53B9071FBF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1- main</a:t>
            </a:r>
            <a:r>
              <a:rPr lang="en-GB" baseline="0"/>
              <a:t> usage social media </a:t>
            </a:r>
          </a:p>
          <a:p>
            <a:r>
              <a:rPr lang="en-GB" baseline="0"/>
              <a:t>2- twitter </a:t>
            </a:r>
            <a:r>
              <a:rPr lang="en-GB" baseline="0" err="1"/>
              <a:t>facebook</a:t>
            </a:r>
            <a:endParaRPr lang="en-GB" baseline="0"/>
          </a:p>
          <a:p>
            <a:r>
              <a:rPr lang="en-GB" baseline="0"/>
              <a:t>3- usage of </a:t>
            </a:r>
            <a:r>
              <a:rPr lang="en-GB" baseline="0" err="1"/>
              <a:t>twiiter</a:t>
            </a:r>
            <a:r>
              <a:rPr lang="en-GB" baseline="0"/>
              <a:t> entertainment</a:t>
            </a:r>
          </a:p>
          <a:p>
            <a:r>
              <a:rPr lang="en-GB" baseline="0"/>
              <a:t>4- share </a:t>
            </a:r>
            <a:r>
              <a:rPr lang="en-GB" baseline="0" err="1"/>
              <a:t>karty</a:t>
            </a:r>
            <a:r>
              <a:rPr lang="en-GB" baseline="0"/>
              <a:t> </a:t>
            </a:r>
            <a:r>
              <a:rPr lang="en-GB" baseline="0" err="1"/>
              <a:t>hain</a:t>
            </a:r>
            <a:r>
              <a:rPr lang="en-GB" baseline="0"/>
              <a:t> news without authentication of current affairs</a:t>
            </a:r>
          </a:p>
          <a:p>
            <a:r>
              <a:rPr lang="en-GB" baseline="0"/>
              <a:t>5- schemers is </a:t>
            </a:r>
            <a:r>
              <a:rPr lang="en-GB" baseline="0" err="1"/>
              <a:t>ka</a:t>
            </a:r>
            <a:r>
              <a:rPr lang="en-GB" baseline="0"/>
              <a:t> </a:t>
            </a:r>
            <a:r>
              <a:rPr lang="en-GB" baseline="0" err="1"/>
              <a:t>faida</a:t>
            </a:r>
            <a:r>
              <a:rPr lang="en-GB" baseline="0"/>
              <a:t> </a:t>
            </a:r>
            <a:r>
              <a:rPr lang="en-GB" baseline="0" err="1"/>
              <a:t>uthaty</a:t>
            </a:r>
            <a:r>
              <a:rPr lang="en-GB" baseline="0"/>
              <a:t> </a:t>
            </a:r>
            <a:r>
              <a:rPr lang="en-GB" baseline="0" err="1"/>
              <a:t>hain</a:t>
            </a:r>
            <a:r>
              <a:rPr lang="en-GB" baseline="0"/>
              <a:t> yeah 1 thread ha</a:t>
            </a:r>
          </a:p>
          <a:p>
            <a:r>
              <a:rPr lang="en-GB" baseline="0"/>
              <a:t>6- </a:t>
            </a:r>
            <a:r>
              <a:rPr lang="en-GB" baseline="0" err="1"/>
              <a:t>isko</a:t>
            </a:r>
            <a:r>
              <a:rPr lang="en-GB" baseline="0"/>
              <a:t> overcome </a:t>
            </a:r>
            <a:r>
              <a:rPr lang="en-GB" baseline="0" err="1"/>
              <a:t>karnay</a:t>
            </a:r>
            <a:r>
              <a:rPr lang="en-GB" baseline="0"/>
              <a:t> </a:t>
            </a:r>
            <a:r>
              <a:rPr lang="en-GB" baseline="0" err="1"/>
              <a:t>kay</a:t>
            </a:r>
            <a:r>
              <a:rPr lang="en-GB" baseline="0"/>
              <a:t> </a:t>
            </a:r>
            <a:r>
              <a:rPr lang="en-GB" baseline="0" err="1"/>
              <a:t>liay</a:t>
            </a:r>
            <a:r>
              <a:rPr lang="en-GB" baseline="0"/>
              <a:t> </a:t>
            </a:r>
            <a:r>
              <a:rPr lang="en-GB" baseline="0" err="1"/>
              <a:t>bohat</a:t>
            </a:r>
            <a:r>
              <a:rPr lang="en-GB" baseline="0"/>
              <a:t> say </a:t>
            </a:r>
            <a:r>
              <a:rPr lang="en-GB" baseline="0" err="1"/>
              <a:t>reserachers</a:t>
            </a:r>
            <a:r>
              <a:rPr lang="en-GB" baseline="0"/>
              <a:t> nay different techniques use </a:t>
            </a:r>
            <a:r>
              <a:rPr lang="en-GB" baseline="0" err="1"/>
              <a:t>ki</a:t>
            </a:r>
            <a:r>
              <a:rPr lang="en-GB" baseline="0"/>
              <a:t> </a:t>
            </a:r>
            <a:r>
              <a:rPr lang="en-GB" baseline="0" err="1"/>
              <a:t>hain</a:t>
            </a:r>
            <a:r>
              <a:rPr lang="en-GB" baseline="0"/>
              <a:t> </a:t>
            </a:r>
            <a:r>
              <a:rPr lang="en-GB" baseline="0" err="1"/>
              <a:t>isay</a:t>
            </a:r>
            <a:r>
              <a:rPr lang="en-GB" baseline="0"/>
              <a:t> overcome </a:t>
            </a:r>
            <a:r>
              <a:rPr lang="en-GB" baseline="0" err="1"/>
              <a:t>karny</a:t>
            </a:r>
            <a:r>
              <a:rPr lang="en-GB" baseline="0"/>
              <a:t> </a:t>
            </a:r>
            <a:r>
              <a:rPr lang="en-GB" baseline="0" err="1"/>
              <a:t>ky</a:t>
            </a:r>
            <a:r>
              <a:rPr lang="en-GB" baseline="0"/>
              <a:t> </a:t>
            </a:r>
            <a:r>
              <a:rPr lang="en-GB" baseline="0" err="1"/>
              <a:t>liay</a:t>
            </a:r>
            <a:endParaRPr lang="en-GB" baseline="0"/>
          </a:p>
          <a:p>
            <a:endParaRPr lang="en-GB" baseline="0"/>
          </a:p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04AD7A-1358-82FF-42D9-2816156085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78BE82-CA5A-4F93-AE93-A0E47A2A050A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995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435"/>
              </a:lnSpc>
            </a:pPr>
            <a:r>
              <a:rPr lang="en-US"/>
              <a:t>MS synopsis defense by XXXX, Oct 04, 2021 Department of Computer Science, COMSATS University Islamabad, Islamabad-Pakistan</a:t>
            </a:r>
            <a:endParaRPr spc="-5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43384F-72EA-4CCE-9D58-995F7425DAC7}" type="datetime1">
              <a:rPr lang="en-US" smtClean="0"/>
              <a:t>4/30/2026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462C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435"/>
              </a:lnSpc>
            </a:pPr>
            <a:r>
              <a:rPr lang="en-US"/>
              <a:t>MS synopsis defense by XXXX, Oct 04, 2021 Department of Computer Science, COMSATS University Islamabad, Islamabad-Pakistan</a:t>
            </a:r>
            <a:endParaRPr spc="-5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653E61-21EF-44DB-8D1B-61D7922FCBB9}" type="datetime1">
              <a:rPr lang="en-US" smtClean="0"/>
              <a:t>4/30/2026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435"/>
              </a:lnSpc>
            </a:pPr>
            <a:r>
              <a:rPr lang="en-US"/>
              <a:t>MS synopsis defense by XXXX, Oct 04, 2021 Department of Computer Science, COMSATS University Islamabad, Islamabad-Pakistan</a:t>
            </a:r>
            <a:endParaRPr spc="-5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C6809-8E92-46A9-86D6-8CC94CDD8A76}" type="datetime1">
              <a:rPr lang="en-US" smtClean="0"/>
              <a:t>4/30/2026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435"/>
              </a:lnSpc>
            </a:pPr>
            <a:r>
              <a:rPr lang="en-US"/>
              <a:t>MS synopsis defense by XXXX, Oct 04, 2021 Department of Computer Science, COMSATS University Islamabad, Islamabad-Pakistan</a:t>
            </a:r>
            <a:endParaRPr spc="-5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8508F5-5CD3-4ED2-867A-61C994028D7E}" type="datetime1">
              <a:rPr lang="en-US" smtClean="0"/>
              <a:t>4/30/2026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435"/>
              </a:lnSpc>
            </a:pPr>
            <a:r>
              <a:rPr lang="en-US"/>
              <a:t>MS synopsis defense by XXXX, Oct 04, 2021 Department of Computer Science, COMSATS University Islamabad, Islamabad-Pakistan</a:t>
            </a:r>
            <a:endParaRPr spc="-5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CD2A4C-4BC6-430D-AE4D-C5C62FCEEAD3}" type="datetime1">
              <a:rPr lang="en-US" smtClean="0"/>
              <a:t>4/30/2026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2472182" y="6254191"/>
            <a:ext cx="7009765" cy="527685"/>
          </a:xfrm>
          <a:custGeom>
            <a:avLst/>
            <a:gdLst/>
            <a:ahLst/>
            <a:cxnLst/>
            <a:rect l="l" t="t" r="r" b="b"/>
            <a:pathLst>
              <a:path w="7009765" h="527684">
                <a:moveTo>
                  <a:pt x="0" y="527303"/>
                </a:moveTo>
                <a:lnTo>
                  <a:pt x="7009510" y="527303"/>
                </a:lnTo>
                <a:lnTo>
                  <a:pt x="7009510" y="0"/>
                </a:lnTo>
                <a:lnTo>
                  <a:pt x="0" y="0"/>
                </a:lnTo>
                <a:lnTo>
                  <a:pt x="0" y="527303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2539238" y="6254191"/>
            <a:ext cx="6875780" cy="216535"/>
          </a:xfrm>
          <a:custGeom>
            <a:avLst/>
            <a:gdLst/>
            <a:ahLst/>
            <a:cxnLst/>
            <a:rect l="l" t="t" r="r" b="b"/>
            <a:pathLst>
              <a:path w="6875780" h="216535">
                <a:moveTo>
                  <a:pt x="0" y="216407"/>
                </a:moveTo>
                <a:lnTo>
                  <a:pt x="6875398" y="216407"/>
                </a:lnTo>
                <a:lnTo>
                  <a:pt x="6875398" y="0"/>
                </a:lnTo>
                <a:lnTo>
                  <a:pt x="0" y="0"/>
                </a:lnTo>
                <a:lnTo>
                  <a:pt x="0" y="216407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2539238" y="6470599"/>
            <a:ext cx="6875780" cy="218440"/>
          </a:xfrm>
          <a:custGeom>
            <a:avLst/>
            <a:gdLst/>
            <a:ahLst/>
            <a:cxnLst/>
            <a:rect l="l" t="t" r="r" b="b"/>
            <a:pathLst>
              <a:path w="6875780" h="218440">
                <a:moveTo>
                  <a:pt x="0" y="217932"/>
                </a:moveTo>
                <a:lnTo>
                  <a:pt x="6875398" y="217932"/>
                </a:lnTo>
                <a:lnTo>
                  <a:pt x="6875398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2472182" y="6162751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1"/>
                </a:moveTo>
                <a:lnTo>
                  <a:pt x="7009510" y="12191"/>
                </a:lnTo>
                <a:lnTo>
                  <a:pt x="7009510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2472182" y="6174943"/>
            <a:ext cx="7009765" cy="79375"/>
          </a:xfrm>
          <a:custGeom>
            <a:avLst/>
            <a:gdLst/>
            <a:ahLst/>
            <a:cxnLst/>
            <a:rect l="l" t="t" r="r" b="b"/>
            <a:pathLst>
              <a:path w="7009765" h="79375">
                <a:moveTo>
                  <a:pt x="0" y="79247"/>
                </a:moveTo>
                <a:lnTo>
                  <a:pt x="7009510" y="79247"/>
                </a:lnTo>
                <a:lnTo>
                  <a:pt x="7009510" y="0"/>
                </a:lnTo>
                <a:lnTo>
                  <a:pt x="0" y="0"/>
                </a:lnTo>
                <a:lnTo>
                  <a:pt x="0" y="79247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2466086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k object 22"/>
          <p:cNvSpPr/>
          <p:nvPr/>
        </p:nvSpPr>
        <p:spPr>
          <a:xfrm>
            <a:off x="2472182" y="6781494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2"/>
                </a:moveTo>
                <a:lnTo>
                  <a:pt x="7009510" y="12192"/>
                </a:lnTo>
                <a:lnTo>
                  <a:pt x="7009510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k object 23"/>
          <p:cNvSpPr/>
          <p:nvPr/>
        </p:nvSpPr>
        <p:spPr>
          <a:xfrm>
            <a:off x="9487789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00525" y="880618"/>
            <a:ext cx="4790948" cy="9886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77871" y="2688462"/>
            <a:ext cx="6636257" cy="26752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462C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949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435"/>
              </a:lnSpc>
            </a:pPr>
            <a:r>
              <a:rPr lang="en-US"/>
              <a:t>MS synopsis defense by XXXX, Oct 04, 2021 Department of Computer Science, COMSATS University Islamabad, Islamabad-Pakistan</a:t>
            </a:r>
            <a:endParaRPr spc="-5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A99EAD-80B1-4D15-891B-334D736D0BFF}" type="datetime1">
              <a:rPr lang="en-US" smtClean="0"/>
              <a:t>4/30/2026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2601" y="699261"/>
            <a:ext cx="81534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GB" sz="3600">
                <a:latin typeface="+mj-lt"/>
              </a:rPr>
              <a:t>AI Based Travel Assistant</a:t>
            </a:r>
            <a:endParaRPr sz="3600">
              <a:latin typeface="+mj-l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828801" y="1828800"/>
            <a:ext cx="7585328" cy="3133550"/>
          </a:xfrm>
          <a:prstGeom prst="rect">
            <a:avLst/>
          </a:prstGeom>
        </p:spPr>
        <p:txBody>
          <a:bodyPr vert="horz" wrap="square" lIns="0" tIns="139065" rIns="0" bIns="0" rtlCol="0" anchor="t">
            <a:spAutoFit/>
          </a:bodyPr>
          <a:lstStyle/>
          <a:p>
            <a:pPr marL="676275" marR="590550" algn="ctr">
              <a:lnSpc>
                <a:spcPct val="100000"/>
              </a:lnSpc>
              <a:spcBef>
                <a:spcPts val="1095"/>
              </a:spcBef>
            </a:pPr>
            <a:r>
              <a:rPr lang="en-GB" spc="-5">
                <a:solidFill>
                  <a:srgbClr val="3A8C6B"/>
                </a:solidFill>
                <a:latin typeface="+mj-lt"/>
              </a:rPr>
              <a:t>Muhammad Ali </a:t>
            </a:r>
            <a:br>
              <a:rPr lang="en-GB" spc="-5" dirty="0">
                <a:latin typeface="+mj-lt"/>
              </a:rPr>
            </a:br>
            <a:r>
              <a:rPr b="0" spc="-5">
                <a:solidFill>
                  <a:srgbClr val="000000"/>
                </a:solidFill>
                <a:latin typeface="+mj-lt"/>
                <a:cs typeface="Times New Roman"/>
              </a:rPr>
              <a:t>(</a:t>
            </a:r>
            <a:r>
              <a:rPr lang="en-GB" b="0" spc="-5">
                <a:solidFill>
                  <a:srgbClr val="000000"/>
                </a:solidFill>
                <a:latin typeface="+mj-lt"/>
                <a:cs typeface="Times New Roman"/>
              </a:rPr>
              <a:t>22</a:t>
            </a:r>
            <a:r>
              <a:rPr b="0" spc="-5">
                <a:solidFill>
                  <a:srgbClr val="000000"/>
                </a:solidFill>
                <a:latin typeface="+mj-lt"/>
                <a:cs typeface="Times New Roman"/>
              </a:rPr>
              <a:t>-</a:t>
            </a:r>
            <a:r>
              <a:rPr lang="en-US" b="0" spc="-5">
                <a:solidFill>
                  <a:srgbClr val="000000"/>
                </a:solidFill>
                <a:latin typeface="+mj-lt"/>
              </a:rPr>
              <a:t>Arid-5404</a:t>
            </a:r>
            <a:r>
              <a:rPr b="0" spc="-5">
                <a:solidFill>
                  <a:srgbClr val="000000"/>
                </a:solidFill>
                <a:latin typeface="+mj-lt"/>
                <a:cs typeface="Times New Roman"/>
              </a:rPr>
              <a:t>)</a:t>
            </a:r>
            <a:endParaRPr lang="en-GB" b="0" spc="-5">
              <a:solidFill>
                <a:srgbClr val="000000"/>
              </a:solidFill>
              <a:latin typeface="+mj-lt"/>
              <a:cs typeface="Times New Roman"/>
            </a:endParaRPr>
          </a:p>
          <a:p>
            <a:pPr marL="676275" marR="590550" algn="ctr">
              <a:spcBef>
                <a:spcPts val="1095"/>
              </a:spcBef>
            </a:pPr>
            <a:r>
              <a:rPr lang="en-GB" spc="-5">
                <a:solidFill>
                  <a:srgbClr val="3A8C6B"/>
                </a:solidFill>
              </a:rPr>
              <a:t>Daniyal Rashid </a:t>
            </a:r>
            <a:br>
              <a:rPr lang="en-GB" spc="-5" dirty="0"/>
            </a:br>
            <a:r>
              <a:rPr lang="en-GB" b="0" spc="-5">
                <a:solidFill>
                  <a:srgbClr val="000000"/>
                </a:solidFill>
              </a:rPr>
              <a:t>(21-Arid-4682)</a:t>
            </a:r>
            <a:endParaRPr lang="en-US" b="0" spc="-5">
              <a:solidFill>
                <a:srgbClr val="000000"/>
              </a:solidFill>
              <a:latin typeface="+mj-lt"/>
              <a:cs typeface="Times New Roman"/>
            </a:endParaRPr>
          </a:p>
          <a:p>
            <a:pPr marL="676275" marR="622300" algn="ctr">
              <a:lnSpc>
                <a:spcPct val="100000"/>
              </a:lnSpc>
              <a:spcBef>
                <a:spcPts val="195"/>
              </a:spcBef>
            </a:pPr>
            <a:r>
              <a:rPr sz="1600" spc="-5">
                <a:solidFill>
                  <a:srgbClr val="000000"/>
                </a:solidFill>
                <a:latin typeface="+mj-lt"/>
              </a:rPr>
              <a:t>(Date: </a:t>
            </a:r>
            <a:r>
              <a:rPr lang="en-US" sz="1600" spc="-5">
                <a:solidFill>
                  <a:srgbClr val="000000"/>
                </a:solidFill>
                <a:latin typeface="+mj-lt"/>
              </a:rPr>
              <a:t>30/</a:t>
            </a:r>
            <a:r>
              <a:rPr lang="en-GB" sz="1600" spc="-5">
                <a:solidFill>
                  <a:srgbClr val="000000"/>
                </a:solidFill>
                <a:latin typeface="+mj-lt"/>
              </a:rPr>
              <a:t>04</a:t>
            </a:r>
            <a:r>
              <a:rPr sz="1600" spc="-5">
                <a:solidFill>
                  <a:srgbClr val="000000"/>
                </a:solidFill>
                <a:latin typeface="+mj-lt"/>
              </a:rPr>
              <a:t>/202</a:t>
            </a:r>
            <a:r>
              <a:rPr lang="en-GB" sz="1600" spc="-5" dirty="0">
                <a:solidFill>
                  <a:srgbClr val="000000"/>
                </a:solidFill>
                <a:latin typeface="+mj-lt"/>
              </a:rPr>
              <a:t>6</a:t>
            </a:r>
            <a:r>
              <a:rPr sz="1600" spc="-5" dirty="0">
                <a:solidFill>
                  <a:srgbClr val="000000"/>
                </a:solidFill>
                <a:latin typeface="+mj-lt"/>
              </a:rPr>
              <a:t>)</a:t>
            </a:r>
            <a:endParaRPr lang="en-US" sz="1600" dirty="0">
              <a:latin typeface="+mj-lt"/>
              <a:ea typeface="Calibri"/>
            </a:endParaRPr>
          </a:p>
          <a:p>
            <a:pPr marL="676275" marR="622300" algn="ctr">
              <a:lnSpc>
                <a:spcPct val="100000"/>
              </a:lnSpc>
              <a:spcBef>
                <a:spcPts val="195"/>
              </a:spcBef>
            </a:pPr>
            <a:r>
              <a:rPr spc="-5">
                <a:solidFill>
                  <a:srgbClr val="000000"/>
                </a:solidFill>
                <a:latin typeface="+mj-lt"/>
              </a:rPr>
              <a:t>Supervisor: </a:t>
            </a:r>
            <a:r>
              <a:rPr lang="en-US" spc="-5">
                <a:solidFill>
                  <a:srgbClr val="3A8C6B"/>
                </a:solidFill>
                <a:uFill>
                  <a:solidFill>
                    <a:srgbClr val="006FC0"/>
                  </a:solidFill>
                </a:uFill>
                <a:latin typeface="+mj-lt"/>
              </a:rPr>
              <a:t>Miss Afifa</a:t>
            </a:r>
            <a:endParaRPr spc="-5">
              <a:solidFill>
                <a:srgbClr val="3A8C6B"/>
              </a:solidFill>
              <a:uFill>
                <a:solidFill>
                  <a:srgbClr val="006FC0"/>
                </a:solidFill>
              </a:uFill>
              <a:latin typeface="+mj-lt"/>
            </a:endParaRPr>
          </a:p>
          <a:p>
            <a:pPr marL="676275" marR="10160" algn="ctr">
              <a:lnSpc>
                <a:spcPct val="100000"/>
              </a:lnSpc>
              <a:spcBef>
                <a:spcPts val="595"/>
              </a:spcBef>
            </a:pPr>
            <a:r>
              <a:rPr sz="1600" b="0" spc="-5">
                <a:solidFill>
                  <a:srgbClr val="000000"/>
                </a:solidFill>
                <a:latin typeface="+mj-lt"/>
                <a:cs typeface="Times New Roman"/>
              </a:rPr>
              <a:t>Department of Computer</a:t>
            </a:r>
            <a:r>
              <a:rPr sz="1600" b="0" spc="5" dirty="0">
                <a:solidFill>
                  <a:srgbClr val="000000"/>
                </a:solidFill>
                <a:latin typeface="+mj-lt"/>
                <a:cs typeface="Times New Roman"/>
              </a:rPr>
              <a:t> </a:t>
            </a:r>
            <a:r>
              <a:rPr sz="1600" b="0" spc="-5">
                <a:solidFill>
                  <a:srgbClr val="000000"/>
                </a:solidFill>
                <a:latin typeface="+mj-lt"/>
                <a:cs typeface="Times New Roman"/>
              </a:rPr>
              <a:t>Science</a:t>
            </a:r>
            <a:endParaRPr sz="1600">
              <a:latin typeface="+mj-lt"/>
              <a:cs typeface="Times New Roman"/>
            </a:endParaRPr>
          </a:p>
          <a:p>
            <a:pPr marL="676275" algn="ctr">
              <a:lnSpc>
                <a:spcPct val="100000"/>
              </a:lnSpc>
              <a:spcBef>
                <a:spcPts val="570"/>
              </a:spcBef>
            </a:pPr>
            <a:r>
              <a:rPr lang="en-US" sz="2000" err="1">
                <a:solidFill>
                  <a:srgbClr val="000000"/>
                </a:solidFill>
                <a:latin typeface="+mj-lt"/>
              </a:rPr>
              <a:t>Barani</a:t>
            </a:r>
            <a:r>
              <a:rPr lang="en-US" sz="2000">
                <a:solidFill>
                  <a:srgbClr val="000000"/>
                </a:solidFill>
                <a:latin typeface="+mj-lt"/>
              </a:rPr>
              <a:t> Institute of Management Sciences, Rawalpindi</a:t>
            </a:r>
            <a:endParaRPr sz="2000">
              <a:latin typeface="+mj-lt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4D364E-C2C4-4992-A9EE-6524CA64BF4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324600"/>
            <a:ext cx="6284595" cy="361574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1, Department of Computer Science, </a:t>
            </a:r>
            <a:r>
              <a:rPr lang="en-US" err="1"/>
              <a:t>Barani</a:t>
            </a:r>
            <a:r>
              <a:rPr lang="en-US"/>
              <a:t> Institute of Management Sciences, Rawalpindi </a:t>
            </a:r>
            <a:endParaRPr lang="en-US" spc="-5"/>
          </a:p>
        </p:txBody>
      </p:sp>
      <p:pic>
        <p:nvPicPr>
          <p:cNvPr id="10" name="Picture 9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10800000" flipH="1" flipV="1">
            <a:off x="10421616" y="5334000"/>
            <a:ext cx="1465584" cy="1386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3"/>
          <p:cNvSpPr/>
          <p:nvPr/>
        </p:nvSpPr>
        <p:spPr>
          <a:xfrm>
            <a:off x="2472182" y="6254191"/>
            <a:ext cx="7009765" cy="527685"/>
          </a:xfrm>
          <a:custGeom>
            <a:avLst/>
            <a:gdLst/>
            <a:ahLst/>
            <a:cxnLst/>
            <a:rect l="l" t="t" r="r" b="b"/>
            <a:pathLst>
              <a:path w="7009765" h="527684">
                <a:moveTo>
                  <a:pt x="0" y="527303"/>
                </a:moveTo>
                <a:lnTo>
                  <a:pt x="7009510" y="527303"/>
                </a:lnTo>
                <a:lnTo>
                  <a:pt x="7009510" y="0"/>
                </a:lnTo>
                <a:lnTo>
                  <a:pt x="0" y="0"/>
                </a:lnTo>
                <a:lnTo>
                  <a:pt x="0" y="527303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4"/>
          <p:cNvSpPr/>
          <p:nvPr/>
        </p:nvSpPr>
        <p:spPr>
          <a:xfrm>
            <a:off x="2539238" y="6254191"/>
            <a:ext cx="6875780" cy="216535"/>
          </a:xfrm>
          <a:custGeom>
            <a:avLst/>
            <a:gdLst/>
            <a:ahLst/>
            <a:cxnLst/>
            <a:rect l="l" t="t" r="r" b="b"/>
            <a:pathLst>
              <a:path w="6875780" h="216535">
                <a:moveTo>
                  <a:pt x="0" y="216407"/>
                </a:moveTo>
                <a:lnTo>
                  <a:pt x="6875398" y="216407"/>
                </a:lnTo>
                <a:lnTo>
                  <a:pt x="6875398" y="0"/>
                </a:lnTo>
                <a:lnTo>
                  <a:pt x="0" y="0"/>
                </a:lnTo>
                <a:lnTo>
                  <a:pt x="0" y="216407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5"/>
          <p:cNvSpPr/>
          <p:nvPr/>
        </p:nvSpPr>
        <p:spPr>
          <a:xfrm>
            <a:off x="2539238" y="6470599"/>
            <a:ext cx="6875780" cy="218440"/>
          </a:xfrm>
          <a:custGeom>
            <a:avLst/>
            <a:gdLst/>
            <a:ahLst/>
            <a:cxnLst/>
            <a:rect l="l" t="t" r="r" b="b"/>
            <a:pathLst>
              <a:path w="6875780" h="218440">
                <a:moveTo>
                  <a:pt x="0" y="217932"/>
                </a:moveTo>
                <a:lnTo>
                  <a:pt x="6875398" y="217932"/>
                </a:lnTo>
                <a:lnTo>
                  <a:pt x="6875398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6"/>
          <p:cNvSpPr/>
          <p:nvPr/>
        </p:nvSpPr>
        <p:spPr>
          <a:xfrm>
            <a:off x="2472182" y="6162751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1"/>
                </a:moveTo>
                <a:lnTo>
                  <a:pt x="7009510" y="12191"/>
                </a:lnTo>
                <a:lnTo>
                  <a:pt x="7009510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7"/>
          <p:cNvSpPr/>
          <p:nvPr/>
        </p:nvSpPr>
        <p:spPr>
          <a:xfrm>
            <a:off x="2472182" y="6174943"/>
            <a:ext cx="7009765" cy="79375"/>
          </a:xfrm>
          <a:custGeom>
            <a:avLst/>
            <a:gdLst/>
            <a:ahLst/>
            <a:cxnLst/>
            <a:rect l="l" t="t" r="r" b="b"/>
            <a:pathLst>
              <a:path w="7009765" h="79375">
                <a:moveTo>
                  <a:pt x="0" y="79247"/>
                </a:moveTo>
                <a:lnTo>
                  <a:pt x="7009510" y="79247"/>
                </a:lnTo>
                <a:lnTo>
                  <a:pt x="7009510" y="0"/>
                </a:lnTo>
                <a:lnTo>
                  <a:pt x="0" y="0"/>
                </a:lnTo>
                <a:lnTo>
                  <a:pt x="0" y="79247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8"/>
          <p:cNvSpPr/>
          <p:nvPr/>
        </p:nvSpPr>
        <p:spPr>
          <a:xfrm>
            <a:off x="2466086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9"/>
          <p:cNvSpPr/>
          <p:nvPr/>
        </p:nvSpPr>
        <p:spPr>
          <a:xfrm>
            <a:off x="2472182" y="6781494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2"/>
                </a:moveTo>
                <a:lnTo>
                  <a:pt x="7009510" y="12192"/>
                </a:lnTo>
                <a:lnTo>
                  <a:pt x="7009510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0"/>
          <p:cNvSpPr/>
          <p:nvPr/>
        </p:nvSpPr>
        <p:spPr>
          <a:xfrm>
            <a:off x="9487789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11"/>
          <p:cNvSpPr txBox="1">
            <a:spLocks noGrp="1"/>
          </p:cNvSpPr>
          <p:nvPr>
            <p:ph type="title"/>
          </p:nvPr>
        </p:nvSpPr>
        <p:spPr>
          <a:xfrm>
            <a:off x="4495800" y="479229"/>
            <a:ext cx="59436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>
                <a:latin typeface="+mj-lt"/>
              </a:rPr>
              <a:t>Introduction</a:t>
            </a:r>
            <a:r>
              <a:rPr lang="en-US" sz="4000">
                <a:latin typeface="+mj-lt"/>
              </a:rPr>
              <a:t> </a:t>
            </a:r>
            <a:endParaRPr sz="4000">
              <a:latin typeface="+mj-lt"/>
            </a:endParaRPr>
          </a:p>
        </p:txBody>
      </p:sp>
      <p:sp>
        <p:nvSpPr>
          <p:cNvPr id="27" name="object 12"/>
          <p:cNvSpPr txBox="1"/>
          <p:nvPr/>
        </p:nvSpPr>
        <p:spPr>
          <a:xfrm>
            <a:off x="685800" y="1524000"/>
            <a:ext cx="10896600" cy="4085733"/>
          </a:xfrm>
          <a:prstGeom prst="rect">
            <a:avLst/>
          </a:prstGeom>
        </p:spPr>
        <p:txBody>
          <a:bodyPr vert="horz" wrap="square" lIns="0" tIns="104139" rIns="0" bIns="0" rtlCol="0" anchor="t">
            <a:spAutoFit/>
          </a:bodyPr>
          <a:lstStyle/>
          <a:p>
            <a:pPr>
              <a:tabLst>
                <a:tab pos="241300" algn="l"/>
              </a:tabLst>
            </a:pPr>
            <a:r>
              <a:rPr lang="en-GB" sz="2800">
                <a:ea typeface="+mn-lt"/>
                <a:cs typeface="+mn-lt"/>
              </a:rPr>
              <a:t>A smart, cross-platform AI-powered Travel Assistant that combines navigation and tourism discovery into a single mobile application for Pakistani travelers.</a:t>
            </a:r>
            <a:endParaRPr lang="en-US">
              <a:ea typeface="+mn-lt"/>
              <a:cs typeface="+mn-lt"/>
            </a:endParaRPr>
          </a:p>
          <a:p>
            <a:pPr marL="457200" indent="-457200">
              <a:buFont typeface="Arial"/>
              <a:buChar char="•"/>
              <a:tabLst>
                <a:tab pos="241300" algn="l"/>
              </a:tabLst>
            </a:pPr>
            <a:r>
              <a:rPr lang="en-GB" sz="2800">
                <a:ea typeface="+mn-lt"/>
                <a:cs typeface="+mn-lt"/>
              </a:rPr>
              <a:t>Discover top destinations across Pakistan with ratings and pricing</a:t>
            </a:r>
            <a:endParaRPr lang="en-US"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  <a:tabLst>
                <a:tab pos="241300" algn="l"/>
              </a:tabLst>
            </a:pPr>
            <a:r>
              <a:rPr lang="en-GB" sz="2800">
                <a:ea typeface="+mn-lt"/>
                <a:cs typeface="+mn-lt"/>
              </a:rPr>
              <a:t>Get fastest or tourist-friendly scenic routes</a:t>
            </a:r>
            <a:endParaRPr lang="en-US"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  <a:tabLst>
                <a:tab pos="241300" algn="l"/>
              </a:tabLst>
            </a:pPr>
            <a:r>
              <a:rPr lang="en-GB" sz="2800">
                <a:ea typeface="+mn-lt"/>
                <a:cs typeface="+mn-lt"/>
              </a:rPr>
              <a:t>Book or customize trips directly from the app</a:t>
            </a:r>
            <a:endParaRPr lang="en-US"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  <a:tabLst>
                <a:tab pos="241300" algn="l"/>
              </a:tabLst>
            </a:pPr>
            <a:r>
              <a:rPr lang="en-GB" sz="2800">
                <a:ea typeface="+mn-lt"/>
                <a:cs typeface="+mn-lt"/>
              </a:rPr>
              <a:t>AI Chat assistant for real-time travel guidance</a:t>
            </a:r>
            <a:endParaRPr lang="en-US"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  <a:tabLst>
                <a:tab pos="241300" algn="l"/>
              </a:tabLst>
            </a:pPr>
            <a:r>
              <a:rPr lang="en-GB" sz="2800">
                <a:ea typeface="+mn-lt"/>
                <a:cs typeface="+mn-lt"/>
              </a:rPr>
              <a:t>Backend: Python + Supabase | Images: Unsplash API</a:t>
            </a:r>
            <a:endParaRPr lang="en-US">
              <a:ea typeface="Calibri"/>
              <a:cs typeface="Calibri"/>
            </a:endParaRPr>
          </a:p>
          <a:p>
            <a:pPr marL="12700">
              <a:spcBef>
                <a:spcPts val="819"/>
              </a:spcBef>
              <a:tabLst>
                <a:tab pos="241300" algn="l"/>
              </a:tabLst>
            </a:pPr>
            <a:endParaRPr lang="en-GB" sz="2800">
              <a:ea typeface="+mn-lt"/>
              <a:cs typeface="+mn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FECA26-699A-485F-88D3-0B19E1B6284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2</a:t>
            </a:fld>
            <a:endParaRPr lang="x-none"/>
          </a:p>
        </p:txBody>
      </p:sp>
      <p:sp>
        <p:nvSpPr>
          <p:cNvPr id="30" name="Footer Placeholder 7">
            <a:extLst>
              <a:ext uri="{FF2B5EF4-FFF2-40B4-BE49-F238E27FC236}">
                <a16:creationId xmlns:a16="http://schemas.microsoft.com/office/drawing/2014/main" id="{7E4D364E-C2C4-4992-A9EE-6524CA64BF4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1, Department of Computer Science, </a:t>
            </a:r>
            <a:r>
              <a:rPr lang="en-US" err="1"/>
              <a:t>Barani</a:t>
            </a:r>
            <a:r>
              <a:rPr lang="en-US"/>
              <a:t> Institute of Management Sciences, Rawalpindi </a:t>
            </a:r>
            <a:endParaRPr lang="en-US" spc="-5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C88FF4C-B8B8-7125-D926-74516C2EC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3">
            <a:extLst>
              <a:ext uri="{FF2B5EF4-FFF2-40B4-BE49-F238E27FC236}">
                <a16:creationId xmlns:a16="http://schemas.microsoft.com/office/drawing/2014/main" id="{F0C6BF22-A254-5C0C-3F7A-784CC5FB569C}"/>
              </a:ext>
            </a:extLst>
          </p:cNvPr>
          <p:cNvSpPr/>
          <p:nvPr/>
        </p:nvSpPr>
        <p:spPr>
          <a:xfrm>
            <a:off x="2472182" y="6254191"/>
            <a:ext cx="7009765" cy="527685"/>
          </a:xfrm>
          <a:custGeom>
            <a:avLst/>
            <a:gdLst/>
            <a:ahLst/>
            <a:cxnLst/>
            <a:rect l="l" t="t" r="r" b="b"/>
            <a:pathLst>
              <a:path w="7009765" h="527684">
                <a:moveTo>
                  <a:pt x="0" y="527303"/>
                </a:moveTo>
                <a:lnTo>
                  <a:pt x="7009510" y="527303"/>
                </a:lnTo>
                <a:lnTo>
                  <a:pt x="7009510" y="0"/>
                </a:lnTo>
                <a:lnTo>
                  <a:pt x="0" y="0"/>
                </a:lnTo>
                <a:lnTo>
                  <a:pt x="0" y="527303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4">
            <a:extLst>
              <a:ext uri="{FF2B5EF4-FFF2-40B4-BE49-F238E27FC236}">
                <a16:creationId xmlns:a16="http://schemas.microsoft.com/office/drawing/2014/main" id="{7A85F130-FE6D-ACD2-B5FC-E337C82E9E53}"/>
              </a:ext>
            </a:extLst>
          </p:cNvPr>
          <p:cNvSpPr/>
          <p:nvPr/>
        </p:nvSpPr>
        <p:spPr>
          <a:xfrm>
            <a:off x="2539238" y="6254191"/>
            <a:ext cx="6875780" cy="216535"/>
          </a:xfrm>
          <a:custGeom>
            <a:avLst/>
            <a:gdLst/>
            <a:ahLst/>
            <a:cxnLst/>
            <a:rect l="l" t="t" r="r" b="b"/>
            <a:pathLst>
              <a:path w="6875780" h="216535">
                <a:moveTo>
                  <a:pt x="0" y="216407"/>
                </a:moveTo>
                <a:lnTo>
                  <a:pt x="6875398" y="216407"/>
                </a:lnTo>
                <a:lnTo>
                  <a:pt x="6875398" y="0"/>
                </a:lnTo>
                <a:lnTo>
                  <a:pt x="0" y="0"/>
                </a:lnTo>
                <a:lnTo>
                  <a:pt x="0" y="216407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5">
            <a:extLst>
              <a:ext uri="{FF2B5EF4-FFF2-40B4-BE49-F238E27FC236}">
                <a16:creationId xmlns:a16="http://schemas.microsoft.com/office/drawing/2014/main" id="{9D881CB1-FC48-D6A7-1E40-D5A12BD5E106}"/>
              </a:ext>
            </a:extLst>
          </p:cNvPr>
          <p:cNvSpPr/>
          <p:nvPr/>
        </p:nvSpPr>
        <p:spPr>
          <a:xfrm>
            <a:off x="2539238" y="6470599"/>
            <a:ext cx="6875780" cy="218440"/>
          </a:xfrm>
          <a:custGeom>
            <a:avLst/>
            <a:gdLst/>
            <a:ahLst/>
            <a:cxnLst/>
            <a:rect l="l" t="t" r="r" b="b"/>
            <a:pathLst>
              <a:path w="6875780" h="218440">
                <a:moveTo>
                  <a:pt x="0" y="217932"/>
                </a:moveTo>
                <a:lnTo>
                  <a:pt x="6875398" y="217932"/>
                </a:lnTo>
                <a:lnTo>
                  <a:pt x="6875398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6">
            <a:extLst>
              <a:ext uri="{FF2B5EF4-FFF2-40B4-BE49-F238E27FC236}">
                <a16:creationId xmlns:a16="http://schemas.microsoft.com/office/drawing/2014/main" id="{ABFCCA18-54C3-0EBA-188B-604EF2E24875}"/>
              </a:ext>
            </a:extLst>
          </p:cNvPr>
          <p:cNvSpPr/>
          <p:nvPr/>
        </p:nvSpPr>
        <p:spPr>
          <a:xfrm>
            <a:off x="2472182" y="6162751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1"/>
                </a:moveTo>
                <a:lnTo>
                  <a:pt x="7009510" y="12191"/>
                </a:lnTo>
                <a:lnTo>
                  <a:pt x="7009510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7">
            <a:extLst>
              <a:ext uri="{FF2B5EF4-FFF2-40B4-BE49-F238E27FC236}">
                <a16:creationId xmlns:a16="http://schemas.microsoft.com/office/drawing/2014/main" id="{5A270C3A-0524-D987-BB88-CB8F0F2804A2}"/>
              </a:ext>
            </a:extLst>
          </p:cNvPr>
          <p:cNvSpPr/>
          <p:nvPr/>
        </p:nvSpPr>
        <p:spPr>
          <a:xfrm>
            <a:off x="2472182" y="6174943"/>
            <a:ext cx="7009765" cy="79375"/>
          </a:xfrm>
          <a:custGeom>
            <a:avLst/>
            <a:gdLst/>
            <a:ahLst/>
            <a:cxnLst/>
            <a:rect l="l" t="t" r="r" b="b"/>
            <a:pathLst>
              <a:path w="7009765" h="79375">
                <a:moveTo>
                  <a:pt x="0" y="79247"/>
                </a:moveTo>
                <a:lnTo>
                  <a:pt x="7009510" y="79247"/>
                </a:lnTo>
                <a:lnTo>
                  <a:pt x="7009510" y="0"/>
                </a:lnTo>
                <a:lnTo>
                  <a:pt x="0" y="0"/>
                </a:lnTo>
                <a:lnTo>
                  <a:pt x="0" y="79247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8">
            <a:extLst>
              <a:ext uri="{FF2B5EF4-FFF2-40B4-BE49-F238E27FC236}">
                <a16:creationId xmlns:a16="http://schemas.microsoft.com/office/drawing/2014/main" id="{1B8BFAF6-688B-20D5-BF21-B0AC9B16BE53}"/>
              </a:ext>
            </a:extLst>
          </p:cNvPr>
          <p:cNvSpPr/>
          <p:nvPr/>
        </p:nvSpPr>
        <p:spPr>
          <a:xfrm>
            <a:off x="2466086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9">
            <a:extLst>
              <a:ext uri="{FF2B5EF4-FFF2-40B4-BE49-F238E27FC236}">
                <a16:creationId xmlns:a16="http://schemas.microsoft.com/office/drawing/2014/main" id="{FD40AB51-E942-F33A-A1B7-06334CE9649F}"/>
              </a:ext>
            </a:extLst>
          </p:cNvPr>
          <p:cNvSpPr/>
          <p:nvPr/>
        </p:nvSpPr>
        <p:spPr>
          <a:xfrm>
            <a:off x="2472182" y="6781494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2"/>
                </a:moveTo>
                <a:lnTo>
                  <a:pt x="7009510" y="12192"/>
                </a:lnTo>
                <a:lnTo>
                  <a:pt x="7009510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0">
            <a:extLst>
              <a:ext uri="{FF2B5EF4-FFF2-40B4-BE49-F238E27FC236}">
                <a16:creationId xmlns:a16="http://schemas.microsoft.com/office/drawing/2014/main" id="{80E12402-FDEA-2F2F-9266-B5AB3A1D065C}"/>
              </a:ext>
            </a:extLst>
          </p:cNvPr>
          <p:cNvSpPr/>
          <p:nvPr/>
        </p:nvSpPr>
        <p:spPr>
          <a:xfrm>
            <a:off x="9487789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11">
            <a:extLst>
              <a:ext uri="{FF2B5EF4-FFF2-40B4-BE49-F238E27FC236}">
                <a16:creationId xmlns:a16="http://schemas.microsoft.com/office/drawing/2014/main" id="{F5FC1E54-32F3-8D06-4323-D2DA0E2B69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67000" y="479229"/>
            <a:ext cx="7772400" cy="124457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en-AU" sz="4000">
                <a:latin typeface="+mj-lt"/>
              </a:rPr>
              <a:t>Relevance to Course Modules</a:t>
            </a:r>
            <a:br>
              <a:rPr lang="en-AU" sz="4000">
                <a:latin typeface="+mj-lt"/>
              </a:rPr>
            </a:br>
            <a:endParaRPr sz="4000">
              <a:latin typeface="+mj-lt"/>
            </a:endParaRPr>
          </a:p>
        </p:txBody>
      </p:sp>
      <p:sp>
        <p:nvSpPr>
          <p:cNvPr id="27" name="object 12">
            <a:extLst>
              <a:ext uri="{FF2B5EF4-FFF2-40B4-BE49-F238E27FC236}">
                <a16:creationId xmlns:a16="http://schemas.microsoft.com/office/drawing/2014/main" id="{582B8527-5B67-53FE-F531-D5E5860F8034}"/>
              </a:ext>
            </a:extLst>
          </p:cNvPr>
          <p:cNvSpPr txBox="1"/>
          <p:nvPr/>
        </p:nvSpPr>
        <p:spPr>
          <a:xfrm>
            <a:off x="685800" y="1524000"/>
            <a:ext cx="10896600" cy="4844915"/>
          </a:xfrm>
          <a:prstGeom prst="rect">
            <a:avLst/>
          </a:prstGeom>
        </p:spPr>
        <p:txBody>
          <a:bodyPr vert="horz" wrap="square" lIns="0" tIns="104139" rIns="0" bIns="0" rtlCol="0" anchor="t">
            <a:spAutoFit/>
          </a:bodyPr>
          <a:lstStyle/>
          <a:p>
            <a:r>
              <a:rPr lang="en-AU" sz="2800">
                <a:ea typeface="+mn-lt"/>
                <a:cs typeface="+mn-lt"/>
              </a:rPr>
              <a:t>This project integrates knowledge from across the BS Computer Science program into one real-world intelligent system.</a:t>
            </a:r>
          </a:p>
          <a:p>
            <a:pPr marL="285750" indent="-285750">
              <a:buFont typeface="Arial"/>
              <a:buChar char="•"/>
            </a:pPr>
            <a:r>
              <a:rPr lang="en-AU" sz="2800" b="1">
                <a:ea typeface="+mn-lt"/>
                <a:cs typeface="+mn-lt"/>
              </a:rPr>
              <a:t>Artificial Intelligence</a:t>
            </a:r>
            <a:r>
              <a:rPr lang="en-AU" sz="2800">
                <a:ea typeface="+mn-lt"/>
                <a:cs typeface="+mn-lt"/>
              </a:rPr>
              <a:t> : NLP-based query processing + AI Chat assistant</a:t>
            </a:r>
            <a:endParaRPr lang="en-AU"/>
          </a:p>
          <a:p>
            <a:pPr marL="285750" indent="-285750">
              <a:buFont typeface="Arial"/>
              <a:buChar char="•"/>
            </a:pPr>
            <a:r>
              <a:rPr lang="en-AU" sz="2800" b="1">
                <a:ea typeface="+mn-lt"/>
                <a:cs typeface="+mn-lt"/>
              </a:rPr>
              <a:t>Software Engineering</a:t>
            </a:r>
            <a:r>
              <a:rPr lang="en-AU" sz="2800">
                <a:ea typeface="+mn-lt"/>
                <a:cs typeface="+mn-lt"/>
              </a:rPr>
              <a:t> : Agile methodology, UML diagrams, SRS documentation</a:t>
            </a:r>
            <a:endParaRPr lang="en-AU"/>
          </a:p>
          <a:p>
            <a:pPr marL="285750" indent="-285750">
              <a:buFont typeface="Arial"/>
              <a:buChar char="•"/>
            </a:pPr>
            <a:r>
              <a:rPr lang="en-AU" sz="2800" b="1">
                <a:ea typeface="+mn-lt"/>
                <a:cs typeface="+mn-lt"/>
              </a:rPr>
              <a:t>Database Management Systems</a:t>
            </a:r>
            <a:r>
              <a:rPr lang="en-AU" sz="2800">
                <a:ea typeface="+mn-lt"/>
                <a:cs typeface="+mn-lt"/>
              </a:rPr>
              <a:t> : Supabase (PostgreSQL) for cloud data storage</a:t>
            </a:r>
            <a:endParaRPr lang="en-AU"/>
          </a:p>
          <a:p>
            <a:pPr marL="285750" indent="-285750">
              <a:buFont typeface="Arial"/>
              <a:buChar char="•"/>
            </a:pPr>
            <a:r>
              <a:rPr lang="en-AU" sz="2800" b="1">
                <a:ea typeface="+mn-lt"/>
                <a:cs typeface="+mn-lt"/>
              </a:rPr>
              <a:t>Mobile App Development</a:t>
            </a:r>
            <a:r>
              <a:rPr lang="en-AU" sz="2800">
                <a:ea typeface="+mn-lt"/>
                <a:cs typeface="+mn-lt"/>
              </a:rPr>
              <a:t> : Flutter cross-platform app (Android &amp; iOS)</a:t>
            </a:r>
            <a:endParaRPr lang="en-AU"/>
          </a:p>
          <a:p>
            <a:pPr marL="285750" indent="-285750">
              <a:buFont typeface="Arial"/>
              <a:buChar char="•"/>
            </a:pPr>
            <a:r>
              <a:rPr lang="en-AU" sz="2800" b="1">
                <a:ea typeface="+mn-lt"/>
                <a:cs typeface="+mn-lt"/>
              </a:rPr>
              <a:t>Computer Networks</a:t>
            </a:r>
            <a:r>
              <a:rPr lang="en-AU" sz="2800">
                <a:ea typeface="+mn-lt"/>
                <a:cs typeface="+mn-lt"/>
              </a:rPr>
              <a:t> : REST API integration (Unsplash, Supabase, OpenRouteService)</a:t>
            </a:r>
            <a:endParaRPr lang="en-AU"/>
          </a:p>
          <a:p>
            <a:endParaRPr lang="en-AU" sz="2800">
              <a:ea typeface="+mn-lt"/>
              <a:cs typeface="+mn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3350A6-FBDC-F0F7-0C97-CD5953F7792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3</a:t>
            </a:fld>
            <a:endParaRPr lang="x-none"/>
          </a:p>
        </p:txBody>
      </p:sp>
      <p:sp>
        <p:nvSpPr>
          <p:cNvPr id="30" name="Footer Placeholder 7">
            <a:extLst>
              <a:ext uri="{FF2B5EF4-FFF2-40B4-BE49-F238E27FC236}">
                <a16:creationId xmlns:a16="http://schemas.microsoft.com/office/drawing/2014/main" id="{31C4BA98-526C-2054-9C6D-3AE4C467B91E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1, Department of Computer Science, </a:t>
            </a:r>
            <a:r>
              <a:rPr lang="en-US" err="1"/>
              <a:t>Barani</a:t>
            </a:r>
            <a:r>
              <a:rPr lang="en-US"/>
              <a:t> Institute of Management Sciences, Rawalpindi </a:t>
            </a:r>
            <a:endParaRPr lang="en-US" spc="-5"/>
          </a:p>
        </p:txBody>
      </p:sp>
    </p:spTree>
    <p:extLst>
      <p:ext uri="{BB962C8B-B14F-4D97-AF65-F5344CB8AC3E}">
        <p14:creationId xmlns:p14="http://schemas.microsoft.com/office/powerpoint/2010/main" val="2984486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68574" y="222003"/>
            <a:ext cx="4019266" cy="124457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4000">
                <a:latin typeface="+mj-lt"/>
              </a:rPr>
              <a:t>Existing Systems</a:t>
            </a:r>
            <a:br>
              <a:rPr lang="en-US" sz="4000" spc="-5">
                <a:latin typeface="+mj-lt"/>
              </a:rPr>
            </a:br>
            <a:endParaRPr sz="4000">
              <a:latin typeface="+mj-l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B2883B-1BBD-4E10-A3AE-7748285E4F9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4</a:t>
            </a:fld>
            <a:endParaRPr lang="x-none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7E4D364E-C2C4-4992-A9EE-6524CA64BF4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1, Department of Computer Science, </a:t>
            </a:r>
            <a:r>
              <a:rPr lang="en-US" err="1"/>
              <a:t>Barani</a:t>
            </a:r>
            <a:r>
              <a:rPr lang="en-US"/>
              <a:t> Institute of Management Sciences, Rawalpindi </a:t>
            </a:r>
            <a:endParaRPr lang="en-US" spc="-5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8639215"/>
              </p:ext>
            </p:extLst>
          </p:nvPr>
        </p:nvGraphicFramePr>
        <p:xfrm>
          <a:off x="1219199" y="1066800"/>
          <a:ext cx="9982200" cy="45720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2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1600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>
                        <a:effectLst/>
                        <a:latin typeface="+mj-lt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j-lt"/>
                          <a:cs typeface="Times New Roman" panose="02020603050405020304" pitchFamily="18" charset="0"/>
                        </a:rPr>
                        <a:t>Existing System</a:t>
                      </a:r>
                      <a:endParaRPr lang="en-US" sz="2000">
                        <a:effectLst/>
                        <a:latin typeface="+mj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3A8C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j-lt"/>
                          <a:cs typeface="Times New Roman" panose="02020603050405020304" pitchFamily="18" charset="0"/>
                        </a:rPr>
                        <a:t>Limitations</a:t>
                      </a:r>
                      <a:endParaRPr lang="en-US" sz="2000">
                        <a:effectLst/>
                        <a:latin typeface="+mj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3A8C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>
                        <a:effectLst/>
                        <a:latin typeface="+mj-lt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j-lt"/>
                          <a:cs typeface="Times New Roman" panose="02020603050405020304" pitchFamily="18" charset="0"/>
                        </a:rPr>
                        <a:t>Technology</a:t>
                      </a:r>
                      <a:endParaRPr lang="en-US" sz="2000">
                        <a:effectLst/>
                        <a:latin typeface="+mj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3A8C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pPr algn="ctr"/>
                      <a:r>
                        <a:rPr lang="en-AU"/>
                        <a:t>Google Maps</a:t>
                      </a:r>
                    </a:p>
                  </a:txBody>
                  <a:tcPr anchor="ctr">
                    <a:solidFill>
                      <a:srgbClr val="3A8C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Provides only fastest/shortest route; does not suggest tourist attractions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/>
                        <a:t>JavaScript, Google Directions API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8047559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pPr algn="ctr"/>
                      <a:r>
                        <a:rPr lang="en-AU"/>
                        <a:t>TripAdvisor</a:t>
                      </a:r>
                    </a:p>
                  </a:txBody>
                  <a:tcPr anchor="ctr">
                    <a:solidFill>
                      <a:srgbClr val="3A8C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Suggests places to visit, but lacks integrated routing or trip customization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Web portal, crowdsourced POI listings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5658276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pPr algn="ctr"/>
                      <a:r>
                        <a:rPr lang="en-AU"/>
                        <a:t>Rome2Rio</a:t>
                      </a:r>
                    </a:p>
                  </a:txBody>
                  <a:tcPr anchor="ctr">
                    <a:solidFill>
                      <a:srgbClr val="3A8C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/>
                        <a:t>Offers multi-modal routes but limited tourist POI support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/>
                        <a:t>Travel APIs, route aggregation engine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530279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pPr algn="ctr"/>
                      <a:r>
                        <a:rPr lang="en-AU"/>
                        <a:t>Visit A City (App)</a:t>
                      </a:r>
                    </a:p>
                  </a:txBody>
                  <a:tcPr anchor="ctr">
                    <a:solidFill>
                      <a:srgbClr val="3A8C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Provides itineraries but mostly limited to popular cities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App-based with static database content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048634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4AF73-105B-E73E-91DF-28D6E3183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E102550-DEBF-1AE9-ED9F-BDE5172D2D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68574" y="222003"/>
            <a:ext cx="4019266" cy="124457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4000" spc="-5">
                <a:latin typeface="+mj-lt"/>
              </a:rPr>
              <a:t>Literature Review</a:t>
            </a:r>
            <a:br>
              <a:rPr lang="en-US" sz="4000" spc="-5">
                <a:latin typeface="+mj-lt"/>
              </a:rPr>
            </a:br>
            <a:endParaRPr sz="4000">
              <a:latin typeface="+mj-l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F0DF62-18B2-6BD1-740D-55779C8D760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5</a:t>
            </a:fld>
            <a:endParaRPr lang="x-none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AC71662E-BEFF-AC31-58D3-ED9392B1CCE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1, Department of Computer Science, </a:t>
            </a:r>
            <a:r>
              <a:rPr lang="en-US" err="1"/>
              <a:t>Barani</a:t>
            </a:r>
            <a:r>
              <a:rPr lang="en-US"/>
              <a:t> Institute of Management Sciences, Rawalpindi </a:t>
            </a:r>
            <a:endParaRPr lang="en-US" spc="-5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C15D853-DB2C-7171-822B-3E569BFB14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7948419"/>
              </p:ext>
            </p:extLst>
          </p:nvPr>
        </p:nvGraphicFramePr>
        <p:xfrm>
          <a:off x="1548448" y="938100"/>
          <a:ext cx="8652192" cy="498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4064">
                  <a:extLst>
                    <a:ext uri="{9D8B030D-6E8A-4147-A177-3AD203B41FA5}">
                      <a16:colId xmlns:a16="http://schemas.microsoft.com/office/drawing/2014/main" val="1322687420"/>
                    </a:ext>
                  </a:extLst>
                </a:gridCol>
                <a:gridCol w="2884064">
                  <a:extLst>
                    <a:ext uri="{9D8B030D-6E8A-4147-A177-3AD203B41FA5}">
                      <a16:colId xmlns:a16="http://schemas.microsoft.com/office/drawing/2014/main" val="2613316285"/>
                    </a:ext>
                  </a:extLst>
                </a:gridCol>
                <a:gridCol w="2884064">
                  <a:extLst>
                    <a:ext uri="{9D8B030D-6E8A-4147-A177-3AD203B41FA5}">
                      <a16:colId xmlns:a16="http://schemas.microsoft.com/office/drawing/2014/main" val="2850309137"/>
                    </a:ext>
                  </a:extLst>
                </a:gridCol>
              </a:tblGrid>
              <a:tr h="996360">
                <a:tc>
                  <a:txBody>
                    <a:bodyPr/>
                    <a:lstStyle/>
                    <a:p>
                      <a:r>
                        <a:rPr lang="en-AU"/>
                        <a:t>Reference Title</a:t>
                      </a:r>
                    </a:p>
                  </a:txBody>
                  <a:tcPr anchor="ctr">
                    <a:solidFill>
                      <a:srgbClr val="3A8C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/>
                        <a:t>Summary</a:t>
                      </a:r>
                    </a:p>
                  </a:txBody>
                  <a:tcPr anchor="ctr">
                    <a:solidFill>
                      <a:srgbClr val="3A8C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How My Idea Is Better</a:t>
                      </a:r>
                    </a:p>
                  </a:txBody>
                  <a:tcPr anchor="ctr">
                    <a:solidFill>
                      <a:srgbClr val="3A8C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329731"/>
                  </a:ext>
                </a:extLst>
              </a:tr>
              <a:tr h="996360">
                <a:tc>
                  <a:txBody>
                    <a:bodyPr/>
                    <a:lstStyle/>
                    <a:p>
                      <a:r>
                        <a:rPr lang="en-GB"/>
                        <a:t>“T</a:t>
                      </a:r>
                      <a:r>
                        <a:rPr lang="en-GB" b="0" i="0" u="none" strike="noStrike" noProof="0">
                          <a:latin typeface="Calibri"/>
                          <a:ea typeface="Calibri"/>
                          <a:cs typeface="Calibri"/>
                        </a:rPr>
                        <a:t>ourism Recommendation using AI &amp; ML (IJCA, 2022)</a:t>
                      </a:r>
                      <a:r>
                        <a:rPr lang="en-GB"/>
                        <a:t>”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b="0" i="0" u="none" strike="noStrike" noProof="0">
                          <a:latin typeface="Calibri"/>
                          <a:ea typeface="Calibri"/>
                          <a:cs typeface="Calibri"/>
                        </a:rPr>
                        <a:t>Clustering-based spot suggestions</a:t>
                      </a:r>
                      <a:endParaRPr lang="en-GB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b="0" i="0" u="none" strike="noStrike" noProof="0">
                          <a:latin typeface="Calibri"/>
                          <a:ea typeface="Calibri"/>
                          <a:cs typeface="Calibri"/>
                        </a:rPr>
                        <a:t>We add NLP input + dual route options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9801326"/>
                  </a:ext>
                </a:extLst>
              </a:tr>
              <a:tr h="996360">
                <a:tc>
                  <a:txBody>
                    <a:bodyPr/>
                    <a:lstStyle/>
                    <a:p>
                      <a:r>
                        <a:rPr lang="en-GB"/>
                        <a:t>“</a:t>
                      </a:r>
                      <a:r>
                        <a:rPr lang="en-GB" b="0" i="0" u="none" strike="noStrike" noProof="0"/>
                        <a:t>POI-Aware Route Planning (ACM, 2021)</a:t>
                      </a:r>
                      <a:r>
                        <a:rPr lang="en-GB"/>
                        <a:t>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b="0" i="0" u="none" strike="noStrike" noProof="0">
                          <a:latin typeface="Calibri"/>
                          <a:ea typeface="Calibri"/>
                          <a:cs typeface="Calibri"/>
                        </a:rPr>
                        <a:t>Walking route optimization via POI density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b="0" i="0" u="none" strike="noStrike" noProof="0">
                          <a:latin typeface="Calibri"/>
                          <a:ea typeface="Calibri"/>
                          <a:cs typeface="Calibri"/>
                        </a:rPr>
                        <a:t>We support long-distance travel + mobile UI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0818"/>
                  </a:ext>
                </a:extLst>
              </a:tr>
              <a:tr h="996360">
                <a:tc>
                  <a:txBody>
                    <a:bodyPr/>
                    <a:lstStyle/>
                    <a:p>
                      <a:r>
                        <a:rPr lang="en-GB"/>
                        <a:t>“</a:t>
                      </a:r>
                      <a:r>
                        <a:rPr lang="en-GB" b="0" i="0" u="none" strike="noStrike" noProof="0">
                          <a:latin typeface="Calibri"/>
                          <a:ea typeface="Calibri"/>
                          <a:cs typeface="Calibri"/>
                        </a:rPr>
                        <a:t>Personalized Itinerary using Geospatial Data (2023)</a:t>
                      </a:r>
                      <a:r>
                        <a:rPr lang="en-GB"/>
                        <a:t>”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b="0" i="0" u="none" strike="noStrike" noProof="0">
                          <a:latin typeface="Calibri"/>
                          <a:ea typeface="Calibri"/>
                          <a:cs typeface="Calibri"/>
                        </a:rPr>
                        <a:t>Day-wise schedules from spatial data</a:t>
                      </a:r>
                      <a:endParaRPr lang="en-GB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b="0" i="0" u="none" strike="noStrike" noProof="0">
                          <a:latin typeface="Calibri"/>
                          <a:ea typeface="Calibri"/>
                          <a:cs typeface="Calibri"/>
                        </a:rPr>
                        <a:t>We add real-time booking + AI chat</a:t>
                      </a:r>
                      <a:endParaRPr lang="en-GB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245847"/>
                  </a:ext>
                </a:extLst>
              </a:tr>
              <a:tr h="996360">
                <a:tc>
                  <a:txBody>
                    <a:bodyPr/>
                    <a:lstStyle/>
                    <a:p>
                      <a:r>
                        <a:rPr lang="en-GB"/>
                        <a:t>“</a:t>
                      </a:r>
                      <a:r>
                        <a:rPr lang="en-GB" b="0" i="0" u="none" strike="noStrike" noProof="0">
                          <a:latin typeface="Calibri"/>
                          <a:ea typeface="Calibri"/>
                          <a:cs typeface="Calibri"/>
                        </a:rPr>
                        <a:t>Conversational Travel Assistant (2021)</a:t>
                      </a:r>
                      <a:r>
                        <a:rPr lang="en-GB"/>
                        <a:t>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b="0" i="0" u="none" strike="noStrike" noProof="0">
                          <a:latin typeface="Calibri"/>
                          <a:ea typeface="Calibri"/>
                          <a:cs typeface="Calibri"/>
                        </a:rPr>
                        <a:t>Scripted chatbot for trip planning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b="0" i="0" u="none" strike="noStrike" noProof="0">
                          <a:latin typeface="Calibri"/>
                          <a:ea typeface="Calibri"/>
                          <a:cs typeface="Calibri"/>
                        </a:rPr>
                        <a:t>Our NLP interprets free-text dynamically</a:t>
                      </a:r>
                      <a:endParaRPr lang="en-GB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2226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6138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472182" y="6254191"/>
            <a:ext cx="7009765" cy="527685"/>
          </a:xfrm>
          <a:custGeom>
            <a:avLst/>
            <a:gdLst/>
            <a:ahLst/>
            <a:cxnLst/>
            <a:rect l="l" t="t" r="r" b="b"/>
            <a:pathLst>
              <a:path w="7009765" h="527684">
                <a:moveTo>
                  <a:pt x="0" y="527303"/>
                </a:moveTo>
                <a:lnTo>
                  <a:pt x="7009510" y="527303"/>
                </a:lnTo>
                <a:lnTo>
                  <a:pt x="7009510" y="0"/>
                </a:lnTo>
                <a:lnTo>
                  <a:pt x="0" y="0"/>
                </a:lnTo>
                <a:lnTo>
                  <a:pt x="0" y="527303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539238" y="6254191"/>
            <a:ext cx="6875780" cy="216535"/>
          </a:xfrm>
          <a:custGeom>
            <a:avLst/>
            <a:gdLst/>
            <a:ahLst/>
            <a:cxnLst/>
            <a:rect l="l" t="t" r="r" b="b"/>
            <a:pathLst>
              <a:path w="6875780" h="216535">
                <a:moveTo>
                  <a:pt x="0" y="216407"/>
                </a:moveTo>
                <a:lnTo>
                  <a:pt x="6875398" y="216407"/>
                </a:lnTo>
                <a:lnTo>
                  <a:pt x="6875398" y="0"/>
                </a:lnTo>
                <a:lnTo>
                  <a:pt x="0" y="0"/>
                </a:lnTo>
                <a:lnTo>
                  <a:pt x="0" y="216407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39238" y="6470599"/>
            <a:ext cx="6875780" cy="218440"/>
          </a:xfrm>
          <a:custGeom>
            <a:avLst/>
            <a:gdLst/>
            <a:ahLst/>
            <a:cxnLst/>
            <a:rect l="l" t="t" r="r" b="b"/>
            <a:pathLst>
              <a:path w="6875780" h="218440">
                <a:moveTo>
                  <a:pt x="0" y="217932"/>
                </a:moveTo>
                <a:lnTo>
                  <a:pt x="6875398" y="217932"/>
                </a:lnTo>
                <a:lnTo>
                  <a:pt x="6875398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72182" y="6162751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1"/>
                </a:moveTo>
                <a:lnTo>
                  <a:pt x="7009510" y="12191"/>
                </a:lnTo>
                <a:lnTo>
                  <a:pt x="7009510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472182" y="6174943"/>
            <a:ext cx="7009765" cy="79375"/>
          </a:xfrm>
          <a:custGeom>
            <a:avLst/>
            <a:gdLst/>
            <a:ahLst/>
            <a:cxnLst/>
            <a:rect l="l" t="t" r="r" b="b"/>
            <a:pathLst>
              <a:path w="7009765" h="79375">
                <a:moveTo>
                  <a:pt x="0" y="79247"/>
                </a:moveTo>
                <a:lnTo>
                  <a:pt x="7009510" y="79247"/>
                </a:lnTo>
                <a:lnTo>
                  <a:pt x="7009510" y="0"/>
                </a:lnTo>
                <a:lnTo>
                  <a:pt x="0" y="0"/>
                </a:lnTo>
                <a:lnTo>
                  <a:pt x="0" y="79247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466086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472182" y="6781494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2"/>
                </a:moveTo>
                <a:lnTo>
                  <a:pt x="7009510" y="12192"/>
                </a:lnTo>
                <a:lnTo>
                  <a:pt x="7009510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487789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733800" y="342786"/>
            <a:ext cx="8201914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>
                <a:latin typeface="+mj-lt"/>
              </a:rPr>
              <a:t>Problem</a:t>
            </a:r>
            <a:r>
              <a:rPr sz="4400" spc="-60">
                <a:latin typeface="+mj-lt"/>
              </a:rPr>
              <a:t> </a:t>
            </a:r>
            <a:r>
              <a:rPr lang="en-US" sz="4400" spc="-5">
                <a:latin typeface="+mj-lt"/>
              </a:rPr>
              <a:t>S</a:t>
            </a:r>
            <a:r>
              <a:rPr sz="4400" spc="-5">
                <a:latin typeface="+mj-lt"/>
              </a:rPr>
              <a:t>tatement</a:t>
            </a:r>
            <a:endParaRPr sz="4400">
              <a:latin typeface="+mj-l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7250" y="1315553"/>
            <a:ext cx="10477500" cy="3768852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algn="just"/>
            <a:endParaRPr lang="en-GB" sz="2000">
              <a:solidFill>
                <a:srgbClr val="000000"/>
              </a:solidFill>
              <a:ea typeface="+mn-lt"/>
              <a:cs typeface="+mn-lt"/>
            </a:endParaRPr>
          </a:p>
          <a:p>
            <a:pPr algn="just"/>
            <a:r>
              <a:rPr lang="en-GB" sz="2400">
                <a:solidFill>
                  <a:srgbClr val="000000"/>
                </a:solidFill>
                <a:ea typeface="+mn-lt"/>
                <a:cs typeface="+mn-lt"/>
              </a:rPr>
              <a:t>Users are forced to switch between multiple apps when planning travel. No single platform intelligently handles both routing and tourist discovery together.</a:t>
            </a:r>
            <a:endParaRPr lang="en-US" sz="2400">
              <a:ea typeface="Calibri"/>
              <a:cs typeface="Calibri"/>
            </a:endParaRPr>
          </a:p>
          <a:p>
            <a:pPr algn="just"/>
            <a:endParaRPr lang="en-GB" sz="2400" b="1">
              <a:ea typeface="Calibri"/>
              <a:cs typeface="Calibri"/>
            </a:endParaRPr>
          </a:p>
          <a:p>
            <a:pPr marL="342900" indent="-342900" algn="just">
              <a:buFont typeface="Arial"/>
              <a:buChar char="•"/>
            </a:pPr>
            <a:r>
              <a:rPr lang="en-GB" sz="2400">
                <a:solidFill>
                  <a:srgbClr val="000000"/>
                </a:solidFill>
                <a:ea typeface="+mn-lt"/>
                <a:cs typeface="+mn-lt"/>
              </a:rPr>
              <a:t>Navigation apps ignore attractions; tourism apps ignore routing</a:t>
            </a:r>
            <a:endParaRPr lang="en-GB" sz="2400">
              <a:ea typeface="Calibri"/>
              <a:cs typeface="Calibri"/>
            </a:endParaRPr>
          </a:p>
          <a:p>
            <a:pPr marL="342900" indent="-342900" algn="just">
              <a:buFont typeface="Arial"/>
              <a:buChar char="•"/>
            </a:pPr>
            <a:r>
              <a:rPr lang="en-GB" sz="2400">
                <a:solidFill>
                  <a:srgbClr val="000000"/>
                </a:solidFill>
                <a:ea typeface="+mn-lt"/>
                <a:cs typeface="+mn-lt"/>
              </a:rPr>
              <a:t>Existing tools use rigid filters — no natural language support</a:t>
            </a:r>
            <a:endParaRPr lang="en-GB" sz="2400">
              <a:ea typeface="Calibri"/>
              <a:cs typeface="Calibri"/>
            </a:endParaRPr>
          </a:p>
          <a:p>
            <a:pPr marL="342900" indent="-342900" algn="just">
              <a:buFont typeface="Arial"/>
              <a:buChar char="•"/>
            </a:pPr>
            <a:r>
              <a:rPr lang="en-GB" sz="2400">
                <a:solidFill>
                  <a:srgbClr val="000000"/>
                </a:solidFill>
                <a:ea typeface="+mn-lt"/>
                <a:cs typeface="+mn-lt"/>
              </a:rPr>
              <a:t>No real-time POI filtering based on personal interests</a:t>
            </a:r>
            <a:endParaRPr lang="en-GB" sz="2400">
              <a:ea typeface="Calibri"/>
              <a:cs typeface="Calibri"/>
            </a:endParaRPr>
          </a:p>
          <a:p>
            <a:pPr marL="342900" indent="-342900" algn="just">
              <a:buFont typeface="Arial"/>
              <a:buChar char="•"/>
            </a:pPr>
            <a:r>
              <a:rPr lang="en-GB" sz="2400">
                <a:solidFill>
                  <a:srgbClr val="000000"/>
                </a:solidFill>
                <a:ea typeface="+mn-lt"/>
                <a:cs typeface="+mn-lt"/>
              </a:rPr>
              <a:t>No unified platform for discovery, routing, and booking</a:t>
            </a:r>
            <a:endParaRPr lang="en-GB" sz="2400">
              <a:ea typeface="Calibri"/>
              <a:cs typeface="Calibri"/>
            </a:endParaRPr>
          </a:p>
          <a:p>
            <a:pPr marL="342900" indent="-342900" algn="just">
              <a:buFont typeface="Arial"/>
              <a:buChar char="•"/>
            </a:pPr>
            <a:r>
              <a:rPr lang="en-GB" sz="2400">
                <a:solidFill>
                  <a:srgbClr val="000000"/>
                </a:solidFill>
                <a:ea typeface="+mn-lt"/>
                <a:cs typeface="+mn-lt"/>
              </a:rPr>
              <a:t>Our system solves all of this in one Flutter app</a:t>
            </a:r>
            <a:endParaRPr lang="en-GB" sz="2400">
              <a:ea typeface="Calibri"/>
              <a:cs typeface="Calibri"/>
            </a:endParaRPr>
          </a:p>
          <a:p>
            <a:pPr marL="355600" marR="5080" indent="-342900" algn="just">
              <a:lnSpc>
                <a:spcPct val="143800"/>
              </a:lnSpc>
              <a:spcBef>
                <a:spcPts val="105"/>
              </a:spcBef>
              <a:buFont typeface="Arial"/>
              <a:buChar char="•"/>
            </a:pPr>
            <a:endParaRPr lang="en-GB" sz="24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8DEC84D-3A32-4CBF-B9CC-BC2DC6120B0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6</a:t>
            </a:fld>
            <a:endParaRPr lang="x-none"/>
          </a:p>
        </p:txBody>
      </p:sp>
      <p:sp>
        <p:nvSpPr>
          <p:cNvPr id="14" name="Footer Placeholder 7">
            <a:extLst>
              <a:ext uri="{FF2B5EF4-FFF2-40B4-BE49-F238E27FC236}">
                <a16:creationId xmlns:a16="http://schemas.microsoft.com/office/drawing/2014/main" id="{7E4D364E-C2C4-4992-A9EE-6524CA64BF4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1, Department of Computer Science, </a:t>
            </a:r>
            <a:r>
              <a:rPr lang="en-US" err="1"/>
              <a:t>Barani</a:t>
            </a:r>
            <a:r>
              <a:rPr lang="en-US"/>
              <a:t> Institute of Management Sciences, Rawalpindi </a:t>
            </a:r>
            <a:endParaRPr lang="en-US" spc="-5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F635B-EC42-4485-A3F5-3C90F25DA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9465" y="466608"/>
            <a:ext cx="8297481" cy="677108"/>
          </a:xfrm>
        </p:spPr>
        <p:txBody>
          <a:bodyPr/>
          <a:lstStyle/>
          <a:p>
            <a:pPr algn="ctr"/>
            <a:r>
              <a:rPr lang="en-GB" sz="4400">
                <a:latin typeface="+mj-lt"/>
              </a:rPr>
              <a:t>Proposed Solution (System Model)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678828-3AFA-464E-94C5-AF9A48914B6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7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4D364E-C2C4-4992-A9EE-6524CA64BF4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1, Department of Computer Science, </a:t>
            </a:r>
            <a:r>
              <a:rPr lang="en-US" err="1"/>
              <a:t>Barani</a:t>
            </a:r>
            <a:r>
              <a:rPr lang="en-US"/>
              <a:t> Institute of Management Sciences, Rawalpindi </a:t>
            </a:r>
            <a:endParaRPr lang="en-US" spc="-5"/>
          </a:p>
        </p:txBody>
      </p:sp>
      <p:sp>
        <p:nvSpPr>
          <p:cNvPr id="4" name="Rectangle 3"/>
          <p:cNvSpPr/>
          <p:nvPr/>
        </p:nvSpPr>
        <p:spPr>
          <a:xfrm>
            <a:off x="758505" y="1613098"/>
            <a:ext cx="10439400" cy="378565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GB" sz="2400">
                <a:ea typeface="+mn-lt"/>
                <a:cs typeface="+mn-lt"/>
              </a:rPr>
              <a:t>A Flutter mobile app backed by Python and Supabase that lets users discover, plan, and book trips across Pakistan through an intelligent, personalized interface.</a:t>
            </a:r>
            <a:endParaRPr lang="en-US" sz="2400">
              <a:ea typeface="Calibri"/>
              <a:cs typeface="Calibri"/>
            </a:endParaRPr>
          </a:p>
          <a:p>
            <a:pPr algn="just"/>
            <a:endParaRPr lang="en-GB" sz="2400" b="1">
              <a:ea typeface="+mn-lt"/>
              <a:cs typeface="+mn-lt"/>
            </a:endParaRPr>
          </a:p>
          <a:p>
            <a:pPr marL="342900" indent="-342900" algn="just">
              <a:buFont typeface="Arial"/>
              <a:buChar char="•"/>
            </a:pPr>
            <a:r>
              <a:rPr lang="en-GB" sz="2400">
                <a:ea typeface="+mn-lt"/>
                <a:cs typeface="+mn-lt"/>
              </a:rPr>
              <a:t>User inputs travel query in natural language</a:t>
            </a:r>
            <a:endParaRPr lang="en-GB" sz="2400">
              <a:ea typeface="Calibri"/>
              <a:cs typeface="Calibri"/>
            </a:endParaRPr>
          </a:p>
          <a:p>
            <a:pPr marL="342900" indent="-342900" algn="just">
              <a:buFont typeface="Arial"/>
              <a:buChar char="•"/>
            </a:pPr>
            <a:r>
              <a:rPr lang="en-GB" sz="2400">
                <a:ea typeface="+mn-lt"/>
                <a:cs typeface="+mn-lt"/>
              </a:rPr>
              <a:t>NLP module (Python) extracts preferences and filters</a:t>
            </a:r>
            <a:endParaRPr lang="en-GB" sz="2400">
              <a:ea typeface="Calibri"/>
              <a:cs typeface="Calibri"/>
            </a:endParaRPr>
          </a:p>
          <a:p>
            <a:pPr marL="342900" indent="-342900" algn="just">
              <a:buFont typeface="Arial"/>
              <a:buChar char="•"/>
            </a:pPr>
            <a:r>
              <a:rPr lang="en-GB" sz="2400">
                <a:ea typeface="+mn-lt"/>
                <a:cs typeface="+mn-lt"/>
              </a:rPr>
              <a:t>System generates fastest route + scenic tourist route</a:t>
            </a:r>
          </a:p>
          <a:p>
            <a:pPr marL="342900" indent="-342900" algn="just">
              <a:buFont typeface="Arial"/>
              <a:buChar char="•"/>
            </a:pPr>
            <a:r>
              <a:rPr lang="en-GB" sz="2400">
                <a:ea typeface="+mn-lt"/>
                <a:cs typeface="+mn-lt"/>
              </a:rPr>
              <a:t>Destination images fetched dynamically via Unsplash API</a:t>
            </a:r>
            <a:endParaRPr lang="en-GB" sz="2400">
              <a:ea typeface="Calibri"/>
              <a:cs typeface="Calibri"/>
            </a:endParaRPr>
          </a:p>
          <a:p>
            <a:pPr marL="342900" indent="-342900" algn="just">
              <a:buFont typeface="Arial"/>
              <a:buChar char="•"/>
            </a:pPr>
            <a:r>
              <a:rPr lang="en-GB" sz="2400">
                <a:ea typeface="+mn-lt"/>
                <a:cs typeface="+mn-lt"/>
              </a:rPr>
              <a:t>Trip data stored and managed in Supabase (PostgreSQL)</a:t>
            </a:r>
            <a:endParaRPr lang="en-GB" sz="2400">
              <a:ea typeface="Calibri"/>
              <a:cs typeface="Calibri"/>
            </a:endParaRPr>
          </a:p>
          <a:p>
            <a:pPr marL="342900" indent="-342900" algn="just">
              <a:buFont typeface="Arial"/>
              <a:buChar char="•"/>
            </a:pPr>
            <a:r>
              <a:rPr lang="en-GB" sz="2400">
                <a:ea typeface="+mn-lt"/>
                <a:cs typeface="+mn-lt"/>
              </a:rPr>
              <a:t>User can Book Now or fully customize their itinerary</a:t>
            </a:r>
            <a:endParaRPr lang="en-GB" sz="2400">
              <a:ea typeface="Calibri"/>
              <a:cs typeface="Calibri"/>
            </a:endParaRPr>
          </a:p>
          <a:p>
            <a:pPr algn="just"/>
            <a:endParaRPr lang="en-GB" sz="24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12679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6A5F8-6470-5F34-1FAB-5CC1EB5EC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9D1F5-855C-804C-2682-D8BB4E05F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9465" y="466608"/>
            <a:ext cx="8297481" cy="677108"/>
          </a:xfrm>
        </p:spPr>
        <p:txBody>
          <a:bodyPr/>
          <a:lstStyle/>
          <a:p>
            <a:pPr algn="ctr"/>
            <a:r>
              <a:rPr lang="en-AU" sz="4400">
                <a:latin typeface="+mj-lt"/>
              </a:rPr>
              <a:t>System Architecture</a:t>
            </a:r>
            <a:endParaRPr lang="en-GB" sz="4400">
              <a:latin typeface="+mj-lt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E17F15-732F-5867-62FE-BB973E0EF47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8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8BC989-B07F-D540-5C30-90839BD8299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1, Department of Computer Science, </a:t>
            </a:r>
            <a:r>
              <a:rPr lang="en-US" err="1"/>
              <a:t>Barani</a:t>
            </a:r>
            <a:r>
              <a:rPr lang="en-US"/>
              <a:t> Institute of Management Sciences, Rawalpindi </a:t>
            </a:r>
            <a:endParaRPr lang="en-US" spc="-5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F74666-4754-25F8-5B1B-2671430F0C32}"/>
              </a:ext>
            </a:extLst>
          </p:cNvPr>
          <p:cNvSpPr/>
          <p:nvPr/>
        </p:nvSpPr>
        <p:spPr>
          <a:xfrm>
            <a:off x="758505" y="1613098"/>
            <a:ext cx="10439400" cy="415498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AU" sz="2400">
                <a:ea typeface="+mn-lt"/>
                <a:cs typeface="+mn-lt"/>
              </a:rPr>
              <a:t>The system follows a client-server architecture with cloud backend integration across four layers.</a:t>
            </a:r>
            <a:endParaRPr lang="en-US" sz="2400">
              <a:ea typeface="+mn-lt"/>
              <a:cs typeface="+mn-lt"/>
            </a:endParaRPr>
          </a:p>
          <a:p>
            <a:endParaRPr lang="en-AU" sz="2400" b="1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AU" sz="2400" b="1">
                <a:ea typeface="+mn-lt"/>
                <a:cs typeface="+mn-lt"/>
              </a:rPr>
              <a:t>Frontend:</a:t>
            </a:r>
            <a:r>
              <a:rPr lang="en-AU" sz="2400">
                <a:ea typeface="+mn-lt"/>
                <a:cs typeface="+mn-lt"/>
              </a:rPr>
              <a:t> Flutter (Android &amp; iOS)</a:t>
            </a:r>
            <a:endParaRPr lang="en-AU" sz="24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AU" sz="2400" b="1">
                <a:ea typeface="+mn-lt"/>
                <a:cs typeface="+mn-lt"/>
              </a:rPr>
              <a:t>Backend:</a:t>
            </a:r>
            <a:r>
              <a:rPr lang="en-AU" sz="2400">
                <a:ea typeface="+mn-lt"/>
                <a:cs typeface="+mn-lt"/>
              </a:rPr>
              <a:t> Python for NLP processing, business logic, API orchestration</a:t>
            </a:r>
            <a:endParaRPr lang="en-AU" sz="24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AU" sz="2400" b="1">
                <a:ea typeface="+mn-lt"/>
                <a:cs typeface="+mn-lt"/>
              </a:rPr>
              <a:t>Database:</a:t>
            </a:r>
            <a:r>
              <a:rPr lang="en-AU" sz="2400">
                <a:ea typeface="+mn-lt"/>
                <a:cs typeface="+mn-lt"/>
              </a:rPr>
              <a:t> Supabase (PostgreSQL) for storing users, trips, bookings, POIs</a:t>
            </a:r>
            <a:endParaRPr lang="en-AU" sz="24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AU" sz="2400" b="1">
                <a:ea typeface="+mn-lt"/>
                <a:cs typeface="+mn-lt"/>
              </a:rPr>
              <a:t>External APIs:</a:t>
            </a:r>
            <a:r>
              <a:rPr lang="en-AU" sz="2400">
                <a:ea typeface="+mn-lt"/>
                <a:cs typeface="+mn-lt"/>
              </a:rPr>
              <a:t> Unsplash (images), OpenStreetMap, Nominatim, OpenRouteService</a:t>
            </a:r>
            <a:endParaRPr lang="en-AU" sz="24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AU" sz="2400" b="1">
                <a:ea typeface="+mn-lt"/>
                <a:cs typeface="+mn-lt"/>
              </a:rPr>
              <a:t>Flow:</a:t>
            </a:r>
            <a:r>
              <a:rPr lang="en-AU" sz="2400">
                <a:ea typeface="+mn-lt"/>
                <a:cs typeface="+mn-lt"/>
              </a:rPr>
              <a:t> User → Flutter → Python Backend → Supabase → Response to UI</a:t>
            </a:r>
            <a:endParaRPr lang="en-AU" sz="2400">
              <a:ea typeface="Calibri"/>
              <a:cs typeface="Calibri"/>
            </a:endParaRPr>
          </a:p>
          <a:p>
            <a:endParaRPr lang="en-AU" sz="2400">
              <a:ea typeface="Calibri"/>
              <a:cs typeface="Calibri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3936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E3554-9144-FAF1-63AD-A5AB07D93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63D86-AAD8-5C5D-DD2F-0784F0D8D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9465" y="466608"/>
            <a:ext cx="8297481" cy="677108"/>
          </a:xfrm>
        </p:spPr>
        <p:txBody>
          <a:bodyPr/>
          <a:lstStyle/>
          <a:p>
            <a:pPr algn="ctr"/>
            <a:r>
              <a:rPr lang="en-GB" sz="4400">
                <a:latin typeface="+mj-lt"/>
              </a:rPr>
              <a:t>Methodology &amp; Software Lifecycle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3D057C-90AA-87CC-AF0B-1FBE44C56CE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9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19A5EF-2616-5541-C64E-1E3B1A9541D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1, Department of Computer Science, </a:t>
            </a:r>
            <a:r>
              <a:rPr lang="en-US" err="1"/>
              <a:t>Barani</a:t>
            </a:r>
            <a:r>
              <a:rPr lang="en-US"/>
              <a:t> Institute of Management Sciences, Rawalpindi </a:t>
            </a:r>
            <a:endParaRPr lang="en-US" spc="-5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78D34C-119C-385E-7B32-A238B55AAE12}"/>
              </a:ext>
            </a:extLst>
          </p:cNvPr>
          <p:cNvSpPr/>
          <p:nvPr/>
        </p:nvSpPr>
        <p:spPr>
          <a:xfrm>
            <a:off x="758505" y="1613098"/>
            <a:ext cx="10439400" cy="341632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2400">
                <a:ea typeface="+mn-lt"/>
                <a:cs typeface="+mn-lt"/>
              </a:rPr>
              <a:t>The project follows Agile Software Development — an iterative approach chosen for its flexibility with evolving AI and NLP requirements.</a:t>
            </a:r>
            <a:endParaRPr lang="en-US" sz="2400">
              <a:ea typeface="+mn-lt"/>
              <a:cs typeface="+mn-lt"/>
            </a:endParaRPr>
          </a:p>
          <a:p>
            <a:endParaRPr lang="en-GB" sz="2400" b="1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GB" sz="2400" b="1">
                <a:ea typeface="+mn-lt"/>
                <a:cs typeface="+mn-lt"/>
              </a:rPr>
              <a:t>Requirement Analysis</a:t>
            </a:r>
            <a:r>
              <a:rPr lang="en-GB" sz="2400">
                <a:ea typeface="+mn-lt"/>
                <a:cs typeface="+mn-lt"/>
              </a:rPr>
              <a:t> : SRS, functional &amp; non-functional requirements</a:t>
            </a:r>
            <a:endParaRPr lang="en-GB" sz="24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2400" b="1">
                <a:ea typeface="+mn-lt"/>
                <a:cs typeface="+mn-lt"/>
              </a:rPr>
              <a:t>System Design</a:t>
            </a:r>
            <a:r>
              <a:rPr lang="en-GB" sz="2400">
                <a:ea typeface="+mn-lt"/>
                <a:cs typeface="+mn-lt"/>
              </a:rPr>
              <a:t> : UML diagrams, architecture definition</a:t>
            </a:r>
            <a:endParaRPr lang="en-GB" sz="24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2400" b="1">
                <a:ea typeface="+mn-lt"/>
                <a:cs typeface="+mn-lt"/>
              </a:rPr>
              <a:t>Implementation</a:t>
            </a:r>
            <a:r>
              <a:rPr lang="en-GB" sz="2400">
                <a:ea typeface="+mn-lt"/>
                <a:cs typeface="+mn-lt"/>
              </a:rPr>
              <a:t> : Flutter app, Python backend, Supabase, Unsplash API</a:t>
            </a:r>
            <a:endParaRPr lang="en-GB" sz="24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2400" b="1">
                <a:ea typeface="+mn-lt"/>
                <a:cs typeface="+mn-lt"/>
              </a:rPr>
              <a:t>Testing</a:t>
            </a:r>
            <a:r>
              <a:rPr lang="en-GB" sz="2400">
                <a:ea typeface="+mn-lt"/>
                <a:cs typeface="+mn-lt"/>
              </a:rPr>
              <a:t> : Unit, integration, and system testing per module</a:t>
            </a:r>
            <a:endParaRPr lang="en-GB" sz="24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2400" b="1">
                <a:ea typeface="+mn-lt"/>
                <a:cs typeface="+mn-lt"/>
              </a:rPr>
              <a:t>Deployment</a:t>
            </a:r>
            <a:r>
              <a:rPr lang="en-GB" sz="2400">
                <a:ea typeface="+mn-lt"/>
                <a:cs typeface="+mn-lt"/>
              </a:rPr>
              <a:t> : Controlled release with iterative feedback-based improvements</a:t>
            </a:r>
            <a:endParaRPr lang="en-GB" sz="2400">
              <a:ea typeface="Calibri"/>
              <a:cs typeface="Calibri"/>
            </a:endParaRPr>
          </a:p>
          <a:p>
            <a:endParaRPr lang="en-GB" sz="24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91867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AE4B8-4554-8C6D-47E6-CB3A4A3A4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E8BF9-5845-D5B7-E382-49A8E836E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9465" y="466608"/>
            <a:ext cx="8297481" cy="677108"/>
          </a:xfrm>
        </p:spPr>
        <p:txBody>
          <a:bodyPr/>
          <a:lstStyle/>
          <a:p>
            <a:pPr algn="ctr"/>
            <a:r>
              <a:rPr lang="en-GB" sz="4400">
                <a:latin typeface="+mj-lt"/>
              </a:rPr>
              <a:t>Why Agile?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1EBDFF-E6E1-CE78-C598-4EC1F2D7FBA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10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0F288E-4201-A761-5D0D-51DC938BBA2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1, Department of Computer Science, </a:t>
            </a:r>
            <a:r>
              <a:rPr lang="en-US" err="1"/>
              <a:t>Barani</a:t>
            </a:r>
            <a:r>
              <a:rPr lang="en-US"/>
              <a:t> Institute of Management Sciences, Rawalpindi </a:t>
            </a:r>
            <a:endParaRPr lang="en-US" spc="-5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5F7DFD-DC48-906C-45FF-21546CA03555}"/>
              </a:ext>
            </a:extLst>
          </p:cNvPr>
          <p:cNvSpPr/>
          <p:nvPr/>
        </p:nvSpPr>
        <p:spPr>
          <a:xfrm>
            <a:off x="758505" y="1613098"/>
            <a:ext cx="10439400" cy="372409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GB" sz="2000">
              <a:ea typeface="Calibri"/>
              <a:cs typeface="Calibri"/>
            </a:endParaRPr>
          </a:p>
          <a:p>
            <a:r>
              <a:rPr lang="en-US" sz="2400">
                <a:ea typeface="+mn-lt"/>
                <a:cs typeface="+mn-lt"/>
              </a:rPr>
              <a:t>Agile was chosen because AI and NLP components require continuous testing and refinement — a linear model cannot support this effectively.</a:t>
            </a:r>
            <a:endParaRPr lang="en-US" sz="2400">
              <a:ea typeface="Calibri"/>
              <a:cs typeface="Calibri"/>
            </a:endParaRPr>
          </a:p>
          <a:p>
            <a:endParaRPr lang="en-US" sz="2400" b="1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Requirements evolve as AI modules are tested and improved</a:t>
            </a:r>
            <a:endParaRPr lang="en-US" sz="240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Each sprint delivers a testable feature (auth, routing, recommendations, chat)</a:t>
            </a:r>
            <a:endParaRPr lang="en-US" sz="240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Parallel development of Flutter frontend and Python backend</a:t>
            </a:r>
            <a:endParaRPr lang="en-US" sz="240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Continuous feedback reduces overall development risk</a:t>
            </a:r>
            <a:endParaRPr lang="en-US" sz="240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Supports fast iteration and course correction at every stage</a:t>
            </a:r>
            <a:endParaRPr lang="en-US" sz="240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en-US" sz="24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4152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2682" y="381000"/>
            <a:ext cx="7349441" cy="677108"/>
          </a:xfrm>
        </p:spPr>
        <p:txBody>
          <a:bodyPr/>
          <a:lstStyle/>
          <a:p>
            <a:r>
              <a:rPr lang="en-US" sz="4400" spc="-5">
                <a:latin typeface="+mj-lt"/>
              </a:rPr>
              <a:t>Tools and Technology</a:t>
            </a:r>
            <a:endParaRPr lang="en-US" sz="440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1447800" y="1447800"/>
            <a:ext cx="9296400" cy="4431983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AU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Built using modern, industry-relevant tools across the complete development stack.</a:t>
            </a:r>
          </a:p>
          <a:p>
            <a:pPr algn="l"/>
            <a:endParaRPr lang="en-AU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rPr lang="en-AU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Frontend:</a:t>
            </a:r>
            <a:r>
              <a:rPr lang="en-AU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Flutter (Android &amp; iOS)</a:t>
            </a:r>
          </a:p>
          <a:p>
            <a:pPr marL="285750" indent="-285750" algn="l">
              <a:buFont typeface="Arial"/>
              <a:buChar char="•"/>
            </a:pPr>
            <a:r>
              <a:rPr lang="en-AU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Backend:</a:t>
            </a:r>
            <a:r>
              <a:rPr lang="en-AU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Python</a:t>
            </a:r>
          </a:p>
          <a:p>
            <a:pPr marL="285750" indent="-285750" algn="l">
              <a:buFont typeface="Arial"/>
              <a:buChar char="•"/>
            </a:pPr>
            <a:r>
              <a:rPr lang="en-AU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Database:</a:t>
            </a:r>
            <a:r>
              <a:rPr lang="en-AU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Supabase (PostgreSQL cloud database)</a:t>
            </a:r>
          </a:p>
          <a:p>
            <a:pPr marL="285750" indent="-285750" algn="l">
              <a:buFont typeface="Arial"/>
              <a:buChar char="•"/>
            </a:pPr>
            <a:r>
              <a:rPr lang="en-AU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Image API:</a:t>
            </a:r>
            <a:r>
              <a:rPr lang="en-AU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Unsplash API (dynamic destination imagery)</a:t>
            </a:r>
          </a:p>
          <a:p>
            <a:pPr marL="285750" indent="-285750" algn="l">
              <a:buFont typeface="Arial"/>
              <a:buChar char="•"/>
            </a:pPr>
            <a:r>
              <a:rPr lang="en-AU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Routing &amp; Maps:</a:t>
            </a:r>
            <a:r>
              <a:rPr lang="en-AU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OpenStreetMap, Nominatim, Overpass API, OpenRouteService</a:t>
            </a:r>
          </a:p>
          <a:p>
            <a:pPr marL="285750" indent="-285750" algn="l">
              <a:buFont typeface="Arial"/>
              <a:buChar char="•"/>
            </a:pPr>
            <a:r>
              <a:rPr lang="en-AU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Current Data:</a:t>
            </a:r>
            <a:r>
              <a:rPr lang="en-AU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Hardcoded dummy data used during development phase</a:t>
            </a:r>
          </a:p>
          <a:p>
            <a:pPr marL="285750" indent="-285750" algn="l">
              <a:buFont typeface="Arial"/>
              <a:buChar char="•"/>
            </a:pPr>
            <a:r>
              <a:rPr lang="en-AU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Dev Tools:</a:t>
            </a:r>
            <a:r>
              <a:rPr lang="en-AU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VS Code, Android Studio, Git/GitHub</a:t>
            </a:r>
          </a:p>
          <a:p>
            <a:endParaRPr lang="en-AU">
              <a:solidFill>
                <a:schemeClr val="tx1"/>
              </a:solidFill>
              <a:latin typeface="+mj-lt"/>
              <a:ea typeface="Calibri"/>
              <a:cs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4D364E-C2C4-4992-A9EE-6524CA64BF4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1, Department of Computer Science, </a:t>
            </a:r>
            <a:r>
              <a:rPr lang="en-US" err="1"/>
              <a:t>Barani</a:t>
            </a:r>
            <a:r>
              <a:rPr lang="en-US"/>
              <a:t> Institute of Management Sciences, Rawalpindi </a:t>
            </a:r>
            <a:endParaRPr lang="en-US" spc="-5"/>
          </a:p>
        </p:txBody>
      </p:sp>
    </p:spTree>
    <p:extLst>
      <p:ext uri="{BB962C8B-B14F-4D97-AF65-F5344CB8AC3E}">
        <p14:creationId xmlns:p14="http://schemas.microsoft.com/office/powerpoint/2010/main" val="13323985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0D748-D350-DD1A-CD59-6C0C92065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750E7-388A-1BC3-0EDA-8B08C4DBE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2682" y="381000"/>
            <a:ext cx="5091050" cy="677108"/>
          </a:xfrm>
        </p:spPr>
        <p:txBody>
          <a:bodyPr/>
          <a:lstStyle/>
          <a:p>
            <a:r>
              <a:rPr lang="en-GB" sz="4400">
                <a:latin typeface="+mj-lt"/>
              </a:rPr>
              <a:t>Use Case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C3E9D-63F9-35CD-536C-8F2D9CB3B1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81051" y="1447800"/>
            <a:ext cx="10206847" cy="3693319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GB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Shows interactions between the two primary actors — User and Admin — and the system's core operations.</a:t>
            </a:r>
          </a:p>
          <a:p>
            <a:pPr algn="l"/>
            <a:endParaRPr lang="en-GB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rPr lang="en-GB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User:</a:t>
            </a:r>
            <a:r>
              <a:rPr lang="en-GB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Register/Login, Enter Travel Query, Filter Preferences, Get Recommendations, View POIs, Save Trip, Chat with AI</a:t>
            </a:r>
          </a:p>
          <a:p>
            <a:pPr marL="285750" indent="-285750" algn="l">
              <a:buFont typeface="Arial"/>
              <a:buChar char="•"/>
            </a:pPr>
            <a:r>
              <a:rPr lang="en-GB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Admin:</a:t>
            </a:r>
            <a:r>
              <a:rPr lang="en-GB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Manage Users, Packages, POIs, View Reports, System Settings</a:t>
            </a:r>
          </a:p>
          <a:p>
            <a:pPr marL="285750" indent="-285750" algn="l">
              <a:buFont typeface="Arial"/>
              <a:buChar char="•"/>
            </a:pPr>
            <a:r>
              <a:rPr lang="en-GB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Get Recommendations </a:t>
            </a:r>
            <a:r>
              <a:rPr lang="en-GB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&lt;&lt;includes&gt;&gt;</a:t>
            </a:r>
            <a:r>
              <a:rPr lang="en-GB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Generate Route</a:t>
            </a:r>
          </a:p>
          <a:p>
            <a:pPr marL="285750" indent="-285750" algn="l">
              <a:buFont typeface="Arial"/>
              <a:buChar char="•"/>
            </a:pPr>
            <a:r>
              <a:rPr lang="en-GB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Generate Route </a:t>
            </a:r>
            <a:r>
              <a:rPr lang="en-GB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&lt;&lt;extends&gt;&gt;</a:t>
            </a:r>
            <a:r>
              <a:rPr lang="en-GB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View Map, Real-time Updates, Save Trip</a:t>
            </a:r>
          </a:p>
          <a:p>
            <a:endParaRPr lang="en-GB">
              <a:solidFill>
                <a:schemeClr val="tx1"/>
              </a:solidFill>
              <a:latin typeface="+mn-lt"/>
              <a:ea typeface="Calibri"/>
              <a:cs typeface="Calibri"/>
            </a:endParaRPr>
          </a:p>
          <a:p>
            <a:endParaRPr lang="en-AU" b="0">
              <a:solidFill>
                <a:schemeClr val="tx1"/>
              </a:solidFill>
              <a:latin typeface="+mn-lt"/>
              <a:ea typeface="Calibri"/>
              <a:cs typeface="Calibri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45C72-A882-F19A-2C91-3F1FDA78F2B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D4BEC8-39C1-1B4C-B45E-70AD1EBB2B0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1, Department of Computer Science, </a:t>
            </a:r>
            <a:r>
              <a:rPr lang="en-US" err="1"/>
              <a:t>Barani</a:t>
            </a:r>
            <a:r>
              <a:rPr lang="en-US"/>
              <a:t> Institute of Management Sciences, Rawalpindi </a:t>
            </a:r>
            <a:endParaRPr lang="en-US" spc="-5"/>
          </a:p>
        </p:txBody>
      </p:sp>
    </p:spTree>
    <p:extLst>
      <p:ext uri="{BB962C8B-B14F-4D97-AF65-F5344CB8AC3E}">
        <p14:creationId xmlns:p14="http://schemas.microsoft.com/office/powerpoint/2010/main" val="32206078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6158A-744E-6BA8-21AB-6521EAD0C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A2F896-3B33-29F3-BD74-2BD049B011D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CFA7A7-2D60-AAAF-6AE6-C517ED2D683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1, Department of Computer Science, </a:t>
            </a:r>
            <a:r>
              <a:rPr lang="en-US" err="1"/>
              <a:t>Barani</a:t>
            </a:r>
            <a:r>
              <a:rPr lang="en-US"/>
              <a:t> Institute of Management Sciences, Rawalpindi </a:t>
            </a:r>
            <a:endParaRPr lang="en-US" spc="-5"/>
          </a:p>
        </p:txBody>
      </p:sp>
      <p:pic>
        <p:nvPicPr>
          <p:cNvPr id="7" name="Content Placeholder 6" descr="A diagram of a travel assistance system&#10;&#10;AI-generated content may be incorrect.">
            <a:extLst>
              <a:ext uri="{FF2B5EF4-FFF2-40B4-BE49-F238E27FC236}">
                <a16:creationId xmlns:a16="http://schemas.microsoft.com/office/drawing/2014/main" id="{8BB8A2A0-8B9E-7624-4101-1DF6C7BBC89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t="5218" r="-55" b="-95"/>
          <a:stretch>
            <a:fillRect/>
          </a:stretch>
        </p:blipFill>
        <p:spPr>
          <a:xfrm>
            <a:off x="1056860" y="554163"/>
            <a:ext cx="10030131" cy="5523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139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495A1-B5C3-7E6D-E563-02A53347A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8F76E-E981-11B6-290A-AE958D4C4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2682" y="381000"/>
            <a:ext cx="5091050" cy="677108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GB" sz="4400">
                <a:latin typeface="+mj-lt"/>
              </a:rPr>
              <a:t>Sequence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BBEB9-5DBB-E183-48B4-F079D037E9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81051" y="1447800"/>
            <a:ext cx="10206847" cy="4062651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GB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Illustrates the step-by-step data flow between system components when a user submits a travel query.</a:t>
            </a:r>
            <a:endParaRPr lang="en-US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algn="l"/>
            <a:endParaRPr lang="en-GB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rPr lang="en-GB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User enters query → Flutter sends to NLP Module (Python)</a:t>
            </a:r>
            <a:endParaRPr lang="en-GB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rPr lang="en-GB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NLP extracts keywords → forwards to Recommendation Engine</a:t>
            </a:r>
            <a:endParaRPr lang="en-GB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rPr lang="en-GB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Recommendation Engine fetches POIs &amp; user data from </a:t>
            </a:r>
            <a:r>
              <a:rPr lang="en-GB" b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Supabase</a:t>
            </a:r>
            <a:endParaRPr lang="en-GB" err="1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rPr lang="en-GB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Route Engine calls </a:t>
            </a:r>
            <a:r>
              <a:rPr lang="en-GB" b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OpenRouteService</a:t>
            </a:r>
            <a:r>
              <a:rPr lang="en-GB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for route + POI data</a:t>
            </a:r>
            <a:endParaRPr lang="en-GB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rPr lang="en-GB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Combined results returned to Flutter → displayed to user</a:t>
            </a:r>
            <a:endParaRPr lang="en-GB">
              <a:solidFill>
                <a:schemeClr val="tx1"/>
              </a:solidFill>
              <a:latin typeface="Calibri"/>
              <a:cs typeface="Calibri"/>
            </a:endParaRPr>
          </a:p>
          <a:p>
            <a:pPr algn="l"/>
            <a:endParaRPr lang="en-GB" b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endParaRPr lang="en-GB">
              <a:solidFill>
                <a:schemeClr val="tx1"/>
              </a:solidFill>
              <a:latin typeface="+mn-lt"/>
              <a:ea typeface="Calibri"/>
              <a:cs typeface="Calibri"/>
            </a:endParaRPr>
          </a:p>
          <a:p>
            <a:endParaRPr lang="en-AU" b="0">
              <a:solidFill>
                <a:schemeClr val="tx1"/>
              </a:solidFill>
              <a:latin typeface="+mn-lt"/>
              <a:ea typeface="Calibri"/>
              <a:cs typeface="Calibri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3D4F2B-C9F6-A37A-6A2C-B30A0C047DD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24B968-FCAC-BF56-34D5-A30E471022B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1, Department of Computer Science, </a:t>
            </a:r>
            <a:r>
              <a:rPr lang="en-US" err="1"/>
              <a:t>Barani</a:t>
            </a:r>
            <a:r>
              <a:rPr lang="en-US"/>
              <a:t> Institute of Management Sciences, Rawalpindi </a:t>
            </a:r>
            <a:endParaRPr lang="en-US" spc="-5"/>
          </a:p>
        </p:txBody>
      </p:sp>
    </p:spTree>
    <p:extLst>
      <p:ext uri="{BB962C8B-B14F-4D97-AF65-F5344CB8AC3E}">
        <p14:creationId xmlns:p14="http://schemas.microsoft.com/office/powerpoint/2010/main" val="27055289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C5ECA-BC08-C27E-A0B7-35DAEEDEB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D0CFAC-6D9A-752A-7C3A-0A317DCD898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FF69D5-F4AB-E1B1-57EE-9EBA32FEDCE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1, Department of Computer Science, </a:t>
            </a:r>
            <a:r>
              <a:rPr lang="en-US" err="1"/>
              <a:t>Barani</a:t>
            </a:r>
            <a:r>
              <a:rPr lang="en-US"/>
              <a:t> Institute of Management Sciences, Rawalpindi </a:t>
            </a:r>
            <a:endParaRPr lang="en-US" spc="-5"/>
          </a:p>
        </p:txBody>
      </p:sp>
      <p:pic>
        <p:nvPicPr>
          <p:cNvPr id="7" name="Content Placeholder 6" descr="A diagram of a sequence diagram&#10;&#10;AI-generated content may be incorrect.">
            <a:extLst>
              <a:ext uri="{FF2B5EF4-FFF2-40B4-BE49-F238E27FC236}">
                <a16:creationId xmlns:a16="http://schemas.microsoft.com/office/drawing/2014/main" id="{0B592C71-DA8E-DBDE-FFFA-E5767B1700E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t="5977" r="62" b="-95"/>
          <a:stretch>
            <a:fillRect/>
          </a:stretch>
        </p:blipFill>
        <p:spPr>
          <a:xfrm>
            <a:off x="1634145" y="598337"/>
            <a:ext cx="8864521" cy="5479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5397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00DFD-1D22-D61F-E4CC-DA1BE862A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FA30E-E614-10B0-CBD2-E23EF73B8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2682" y="381000"/>
            <a:ext cx="5151789" cy="677108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GB" sz="4400">
                <a:latin typeface="+mj-lt"/>
              </a:rPr>
              <a:t>  Activity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DABAC-586F-566A-26D0-3A527B41E9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81051" y="1447800"/>
            <a:ext cx="10206847" cy="4062651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GB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Maps the complete travel planning workflow from app launch to trip saving, including the iterative refinement loop.</a:t>
            </a:r>
            <a:endParaRPr lang="en-GB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algn="l"/>
            <a:endParaRPr lang="en-GB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rPr lang="en-GB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Start → Login/Register → Enter Travel Query</a:t>
            </a:r>
            <a:endParaRPr lang="en-GB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rPr lang="en-GB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Process Input (NLP) → Get Recommendations → Generate Route</a:t>
            </a:r>
            <a:endParaRPr lang="en-GB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rPr lang="en-GB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Display Results → Decision: User Satisfied?</a:t>
            </a:r>
            <a:endParaRPr lang="en-GB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rPr lang="en-GB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Yes →</a:t>
            </a:r>
            <a:r>
              <a:rPr lang="en-GB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Save Trip Plan → End</a:t>
            </a:r>
            <a:endParaRPr lang="en-GB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rPr lang="en-GB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No →</a:t>
            </a:r>
            <a:r>
              <a:rPr lang="en-GB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Modify Query → loop back to NLP</a:t>
            </a:r>
            <a:endParaRPr lang="en-GB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algn="l"/>
            <a:endParaRPr lang="en-GB" b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endParaRPr lang="en-GB">
              <a:solidFill>
                <a:schemeClr val="tx1"/>
              </a:solidFill>
              <a:latin typeface="+mn-lt"/>
              <a:ea typeface="Calibri"/>
              <a:cs typeface="Calibri"/>
            </a:endParaRPr>
          </a:p>
          <a:p>
            <a:endParaRPr lang="en-AU" b="0">
              <a:solidFill>
                <a:schemeClr val="tx1"/>
              </a:solidFill>
              <a:latin typeface="+mn-lt"/>
              <a:ea typeface="Calibri"/>
              <a:cs typeface="Calibri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415F3-7C49-BDD2-D6CD-1CD3D3522B8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9B5D92-586E-72BE-815D-92C0BE991C8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1, Department of Computer Science, </a:t>
            </a:r>
            <a:r>
              <a:rPr lang="en-US" err="1"/>
              <a:t>Barani</a:t>
            </a:r>
            <a:r>
              <a:rPr lang="en-US"/>
              <a:t> Institute of Management Sciences, Rawalpindi </a:t>
            </a:r>
            <a:endParaRPr lang="en-US" spc="-5"/>
          </a:p>
        </p:txBody>
      </p:sp>
    </p:spTree>
    <p:extLst>
      <p:ext uri="{BB962C8B-B14F-4D97-AF65-F5344CB8AC3E}">
        <p14:creationId xmlns:p14="http://schemas.microsoft.com/office/powerpoint/2010/main" val="19766637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17799-F22C-176F-8481-F1F943CE5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E580A-135D-183A-C067-25BE0646621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17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2E9B7C-D98B-7C53-13B7-D4D58B6758C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1, Department of Computer Science, </a:t>
            </a:r>
            <a:r>
              <a:rPr lang="en-US" err="1"/>
              <a:t>Barani</a:t>
            </a:r>
            <a:r>
              <a:rPr lang="en-US"/>
              <a:t> Institute of Management Sciences, Rawalpindi </a:t>
            </a:r>
            <a:endParaRPr lang="en-US" spc="-5"/>
          </a:p>
        </p:txBody>
      </p:sp>
      <p:pic>
        <p:nvPicPr>
          <p:cNvPr id="7" name="Content Placeholder 6" descr="A diagram of travel planning&#10;&#10;AI-generated content may be incorrect.">
            <a:extLst>
              <a:ext uri="{FF2B5EF4-FFF2-40B4-BE49-F238E27FC236}">
                <a16:creationId xmlns:a16="http://schemas.microsoft.com/office/drawing/2014/main" id="{DA49D8DA-9819-8FE3-D3AC-07E8CF122AA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t="10628" r="-50" b="97"/>
          <a:stretch>
            <a:fillRect/>
          </a:stretch>
        </p:blipFill>
        <p:spPr>
          <a:xfrm>
            <a:off x="449470" y="881453"/>
            <a:ext cx="11128961" cy="510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8817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2601B-BE2D-B50E-1DEC-F666EBA4D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95FB9-027E-5504-CBC5-790F0D77D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2682" y="381000"/>
            <a:ext cx="5151789" cy="677108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GB" sz="4400">
                <a:latin typeface="+mj-lt"/>
              </a:rPr>
              <a:t>  Class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791DB-9DEB-88C9-1A06-818BCC2A2D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81051" y="1447800"/>
            <a:ext cx="10206847" cy="4062651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GB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Defines the five core system classes, their attributes, methods, and relationships.</a:t>
            </a:r>
            <a:endParaRPr lang="en-US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algn="l"/>
            <a:endParaRPr lang="en-GB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rPr lang="en-GB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User</a:t>
            </a:r>
            <a:r>
              <a:rPr lang="en-GB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— register(), login(), </a:t>
            </a:r>
            <a:r>
              <a:rPr lang="en-GB" b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updateProfile</a:t>
            </a:r>
            <a:r>
              <a:rPr lang="en-GB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(), logout()</a:t>
            </a:r>
            <a:endParaRPr lang="en-GB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rPr lang="en-GB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TravelPlan</a:t>
            </a:r>
            <a:r>
              <a:rPr lang="en-GB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— </a:t>
            </a:r>
            <a:r>
              <a:rPr lang="en-GB" b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createPlan</a:t>
            </a:r>
            <a:r>
              <a:rPr lang="en-GB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(), </a:t>
            </a:r>
            <a:r>
              <a:rPr lang="en-GB" b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addLocation</a:t>
            </a:r>
            <a:r>
              <a:rPr lang="en-GB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(), </a:t>
            </a:r>
            <a:r>
              <a:rPr lang="en-GB" b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calculateTotalDistance</a:t>
            </a:r>
            <a:r>
              <a:rPr lang="en-GB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()</a:t>
            </a:r>
            <a:endParaRPr lang="en-GB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rPr lang="en-GB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Location</a:t>
            </a:r>
            <a:r>
              <a:rPr lang="en-GB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— coordinates, </a:t>
            </a:r>
            <a:r>
              <a:rPr lang="en-GB" b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imageUrl</a:t>
            </a:r>
            <a:r>
              <a:rPr lang="en-GB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GB" b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getDetails</a:t>
            </a:r>
            <a:r>
              <a:rPr lang="en-GB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(), </a:t>
            </a:r>
            <a:r>
              <a:rPr lang="en-GB" b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getDistance</a:t>
            </a:r>
            <a:r>
              <a:rPr lang="en-GB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()</a:t>
            </a:r>
            <a:endParaRPr lang="en-GB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rPr lang="en-GB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Route</a:t>
            </a:r>
            <a:r>
              <a:rPr lang="en-GB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— distance, duration, </a:t>
            </a:r>
            <a:r>
              <a:rPr lang="en-GB" b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startLocation</a:t>
            </a:r>
            <a:r>
              <a:rPr lang="en-GB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GB" b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endLocation</a:t>
            </a:r>
            <a:r>
              <a:rPr lang="en-GB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GB" b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generateRoute</a:t>
            </a:r>
            <a:r>
              <a:rPr lang="en-GB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()</a:t>
            </a:r>
            <a:endParaRPr lang="en-GB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rPr lang="en-GB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RecommendationEngine</a:t>
            </a:r>
            <a:r>
              <a:rPr lang="en-GB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— </a:t>
            </a:r>
            <a:r>
              <a:rPr lang="en-GB" b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getRecommendations</a:t>
            </a:r>
            <a:r>
              <a:rPr lang="en-GB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(), </a:t>
            </a:r>
            <a:r>
              <a:rPr lang="en-GB" b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filterLocations</a:t>
            </a:r>
            <a:r>
              <a:rPr lang="en-GB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()</a:t>
            </a:r>
            <a:endParaRPr lang="en-GB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algn="l"/>
            <a:endParaRPr lang="en-GB" b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algn="l"/>
            <a:endParaRPr lang="en-GB" b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endParaRPr lang="en-GB">
              <a:solidFill>
                <a:schemeClr val="tx1"/>
              </a:solidFill>
              <a:latin typeface="+mn-lt"/>
              <a:ea typeface="Calibri"/>
              <a:cs typeface="Calibri"/>
            </a:endParaRPr>
          </a:p>
          <a:p>
            <a:endParaRPr lang="en-AU" b="0">
              <a:solidFill>
                <a:schemeClr val="tx1"/>
              </a:solidFill>
              <a:latin typeface="+mn-lt"/>
              <a:ea typeface="Calibri"/>
              <a:cs typeface="Calibri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8CED9B-2D1E-84A1-EA7F-861BC72DDD8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0C2222-A749-203D-D970-0DC1F96DB51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1, Department of Computer Science, </a:t>
            </a:r>
            <a:r>
              <a:rPr lang="en-US" err="1"/>
              <a:t>Barani</a:t>
            </a:r>
            <a:r>
              <a:rPr lang="en-US"/>
              <a:t> Institute of Management Sciences, Rawalpindi </a:t>
            </a:r>
            <a:endParaRPr lang="en-US" spc="-5"/>
          </a:p>
        </p:txBody>
      </p:sp>
    </p:spTree>
    <p:extLst>
      <p:ext uri="{BB962C8B-B14F-4D97-AF65-F5344CB8AC3E}">
        <p14:creationId xmlns:p14="http://schemas.microsoft.com/office/powerpoint/2010/main" val="11496103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8F6ED-7182-B2CB-D487-73E7AA458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CD01C2-DDA8-3405-F67C-7F971C89301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6EB82A-CBB6-63F3-738C-DEE1E1C5565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1, Department of Computer Science, </a:t>
            </a:r>
            <a:r>
              <a:rPr lang="en-US" err="1"/>
              <a:t>Barani</a:t>
            </a:r>
            <a:r>
              <a:rPr lang="en-US"/>
              <a:t> Institute of Management Sciences, Rawalpindi </a:t>
            </a:r>
            <a:endParaRPr lang="en-US" spc="-5"/>
          </a:p>
        </p:txBody>
      </p:sp>
      <p:pic>
        <p:nvPicPr>
          <p:cNvPr id="4" name="Content Placeholder 3" descr="A diagram of a travel assistant system">
            <a:extLst>
              <a:ext uri="{FF2B5EF4-FFF2-40B4-BE49-F238E27FC236}">
                <a16:creationId xmlns:a16="http://schemas.microsoft.com/office/drawing/2014/main" id="{AE88AB51-075F-B6BE-87D4-9F5A9E80EA8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t="5952" r="-67"/>
          <a:stretch>
            <a:fillRect/>
          </a:stretch>
        </p:blipFill>
        <p:spPr>
          <a:xfrm>
            <a:off x="609600" y="381726"/>
            <a:ext cx="10811705" cy="5734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3460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E8267-3788-C101-21BF-953E0FDFC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23332-0A04-4C3F-7CF1-2D9645066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2682" y="381000"/>
            <a:ext cx="5151789" cy="677108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GB" sz="4400">
                <a:latin typeface="+mj-lt"/>
              </a:rPr>
              <a:t>  Roles</a:t>
            </a:r>
            <a:r>
              <a:rPr lang="en-GB" sz="4400">
                <a:latin typeface="Calibri"/>
                <a:ea typeface="Calibri"/>
              </a:rPr>
              <a:t>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2FD73-1674-6D65-EA8B-752BFC7EE3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81051" y="1447800"/>
            <a:ext cx="10206847" cy="4062651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GB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Defines the three roles in the system and their distinct responsibilities.</a:t>
            </a:r>
            <a:endParaRPr lang="en-US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algn="l"/>
            <a:endParaRPr lang="en-GB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rPr lang="en-GB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User:</a:t>
            </a:r>
            <a:r>
              <a:rPr lang="en-GB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Search destinations, get recommendations, view POIs &amp; routes, save trips, chat with AI</a:t>
            </a:r>
            <a:endParaRPr lang="en-GB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rPr lang="en-GB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Admin:</a:t>
            </a:r>
            <a:r>
              <a:rPr lang="en-GB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Manage users, packages &amp; POIs, view reports, control system settings</a:t>
            </a:r>
            <a:endParaRPr lang="en-GB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rPr lang="en-GB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AI System:</a:t>
            </a:r>
            <a:r>
              <a:rPr lang="en-GB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Process NLP queries, extract preferences, filter POIs, generate routes, provide recommendations</a:t>
            </a:r>
            <a:endParaRPr lang="en-GB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algn="l"/>
            <a:endParaRPr lang="en-GB" b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algn="l"/>
            <a:endParaRPr lang="en-GB" b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endParaRPr lang="en-GB">
              <a:solidFill>
                <a:schemeClr val="tx1"/>
              </a:solidFill>
              <a:latin typeface="+mn-lt"/>
              <a:ea typeface="Calibri"/>
              <a:cs typeface="Calibri"/>
            </a:endParaRPr>
          </a:p>
          <a:p>
            <a:endParaRPr lang="en-AU" b="0">
              <a:solidFill>
                <a:schemeClr val="tx1"/>
              </a:solidFill>
              <a:latin typeface="+mn-lt"/>
              <a:ea typeface="Calibri"/>
              <a:cs typeface="Calibri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44F19-BCF6-2D42-770C-7C17E1BF625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7CE0CE-7EE3-1368-83CC-E7A04AC1E22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1, Department of Computer Science, </a:t>
            </a:r>
            <a:r>
              <a:rPr lang="en-US" err="1"/>
              <a:t>Barani</a:t>
            </a:r>
            <a:r>
              <a:rPr lang="en-US"/>
              <a:t> Institute of Management Sciences, Rawalpindi </a:t>
            </a:r>
            <a:endParaRPr lang="en-US" spc="-5"/>
          </a:p>
        </p:txBody>
      </p:sp>
    </p:spTree>
    <p:extLst>
      <p:ext uri="{BB962C8B-B14F-4D97-AF65-F5344CB8AC3E}">
        <p14:creationId xmlns:p14="http://schemas.microsoft.com/office/powerpoint/2010/main" val="37443850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42E3F-55FC-1332-E21D-93BED0CD5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14DAD-AF4E-6157-8F7F-BE63389A635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4AEEC7-9B96-0A6E-5637-87ED31C2702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1, Department of Computer Science, </a:t>
            </a:r>
            <a:r>
              <a:rPr lang="en-US" err="1"/>
              <a:t>Barani</a:t>
            </a:r>
            <a:r>
              <a:rPr lang="en-US"/>
              <a:t> Institute of Management Sciences, Rawalpindi </a:t>
            </a:r>
            <a:endParaRPr lang="en-US" spc="-5"/>
          </a:p>
        </p:txBody>
      </p:sp>
      <p:pic>
        <p:nvPicPr>
          <p:cNvPr id="5" name="Content Placeholder 4" descr="A diagram of a system&#10;&#10;AI-generated content may be incorrect.">
            <a:extLst>
              <a:ext uri="{FF2B5EF4-FFF2-40B4-BE49-F238E27FC236}">
                <a16:creationId xmlns:a16="http://schemas.microsoft.com/office/drawing/2014/main" id="{55421198-FBC4-B898-7CDF-D2C0E019197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t="9028" r="-35" b="98"/>
          <a:stretch>
            <a:fillRect/>
          </a:stretch>
        </p:blipFill>
        <p:spPr>
          <a:xfrm>
            <a:off x="609600" y="469337"/>
            <a:ext cx="10972711" cy="5544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5141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03432-F851-7F91-D655-BE019A6CC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A5E51-1737-E38B-7B37-D0F8D976F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5910" y="723839"/>
            <a:ext cx="6155690" cy="1354217"/>
          </a:xfrm>
        </p:spPr>
        <p:txBody>
          <a:bodyPr/>
          <a:lstStyle/>
          <a:p>
            <a:r>
              <a:rPr lang="en-GB" sz="4400">
                <a:latin typeface="+mj-lt"/>
              </a:rPr>
              <a:t>Functional Requirements</a:t>
            </a:r>
            <a:br>
              <a:rPr lang="en-GB" sz="4400">
                <a:latin typeface="+mj-lt"/>
              </a:rPr>
            </a:br>
            <a:endParaRPr lang="en-GB" sz="4400">
              <a:latin typeface="+mj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85F83-E251-D476-D51F-364C42ED0D7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29F5BE-EF62-992D-4D99-43652198E05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1, Department of Computer Science, </a:t>
            </a:r>
            <a:r>
              <a:rPr lang="en-US" err="1"/>
              <a:t>Barani</a:t>
            </a:r>
            <a:r>
              <a:rPr lang="en-US"/>
              <a:t> Institute of Management Sciences, Rawalpindi </a:t>
            </a:r>
            <a:endParaRPr lang="en-US" spc="-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DC9743-D6D0-2159-1CA2-D69DE4ACDB61}"/>
              </a:ext>
            </a:extLst>
          </p:cNvPr>
          <p:cNvSpPr txBox="1"/>
          <p:nvPr/>
        </p:nvSpPr>
        <p:spPr>
          <a:xfrm>
            <a:off x="1447800" y="1625785"/>
            <a:ext cx="9322600" cy="37856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2400">
                <a:ea typeface="+mn-lt"/>
                <a:cs typeface="+mn-lt"/>
              </a:rPr>
              <a:t>Four functional areas cover the complete scope of user and admin operations in the system.</a:t>
            </a:r>
            <a:endParaRPr lang="en-US" sz="240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GB" sz="2400" b="1">
                <a:ea typeface="+mn-lt"/>
                <a:cs typeface="+mn-lt"/>
              </a:rPr>
              <a:t>Account:</a:t>
            </a:r>
            <a:r>
              <a:rPr lang="en-GB" sz="2400">
                <a:ea typeface="+mn-lt"/>
                <a:cs typeface="+mn-lt"/>
              </a:rPr>
              <a:t> Register, login securely, update profile</a:t>
            </a:r>
            <a:endParaRPr lang="en-GB" sz="2400"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>
                <a:ea typeface="+mn-lt"/>
                <a:cs typeface="+mn-lt"/>
              </a:rPr>
              <a:t>Query Processing:</a:t>
            </a:r>
            <a:r>
              <a:rPr lang="en-GB" sz="2400">
                <a:ea typeface="+mn-lt"/>
                <a:cs typeface="+mn-lt"/>
              </a:rPr>
              <a:t> Accept natural language input, extract keywords via NLP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>
                <a:ea typeface="+mn-lt"/>
                <a:cs typeface="+mn-lt"/>
              </a:rPr>
              <a:t>Route &amp; Recommendations:</a:t>
            </a:r>
            <a:r>
              <a:rPr lang="en-GB" sz="2400">
                <a:ea typeface="+mn-lt"/>
                <a:cs typeface="+mn-lt"/>
              </a:rPr>
              <a:t> Generate optimized routes, display POIs with images and ratings</a:t>
            </a:r>
            <a:endParaRPr lang="en-GB" sz="2400"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>
                <a:ea typeface="+mn-lt"/>
                <a:cs typeface="+mn-lt"/>
              </a:rPr>
              <a:t>Interaction:</a:t>
            </a:r>
            <a:r>
              <a:rPr lang="en-GB" sz="2400">
                <a:ea typeface="+mn-lt"/>
                <a:cs typeface="+mn-lt"/>
              </a:rPr>
              <a:t> Real-time updates, save/manage trips, AI chat assistant</a:t>
            </a:r>
            <a:endParaRPr lang="en-GB" sz="2400"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>
                <a:ea typeface="+mn-lt"/>
                <a:cs typeface="+mn-lt"/>
              </a:rPr>
              <a:t>Admin:</a:t>
            </a:r>
            <a:r>
              <a:rPr lang="en-GB" sz="2400">
                <a:ea typeface="+mn-lt"/>
                <a:cs typeface="+mn-lt"/>
              </a:rPr>
              <a:t> Manage users, packages, POIs, and view system reports</a:t>
            </a:r>
            <a:endParaRPr lang="en-GB" sz="2400"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477162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8508B-2434-CE45-6299-4C059705F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6EFF7-60C4-41CF-3EDF-C4DDEA65B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723839"/>
            <a:ext cx="7010400" cy="677108"/>
          </a:xfrm>
        </p:spPr>
        <p:txBody>
          <a:bodyPr/>
          <a:lstStyle/>
          <a:p>
            <a:r>
              <a:rPr lang="en-GB" sz="4400">
                <a:latin typeface="+mj-lt"/>
              </a:rPr>
              <a:t>Non-Functional Requirements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77C77-4A4F-8342-90BA-04B8D8FA59D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0FFDB5-A841-CA48-27E7-E9FF079C609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1, Department of Computer Science, </a:t>
            </a:r>
            <a:r>
              <a:rPr lang="en-US" err="1"/>
              <a:t>Barani</a:t>
            </a:r>
            <a:r>
              <a:rPr lang="en-US"/>
              <a:t> Institute of Management Sciences, Rawalpindi </a:t>
            </a:r>
            <a:endParaRPr lang="en-US" spc="-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3B6B44-F5F0-7949-F7DB-8B5031D31323}"/>
              </a:ext>
            </a:extLst>
          </p:cNvPr>
          <p:cNvSpPr txBox="1"/>
          <p:nvPr/>
        </p:nvSpPr>
        <p:spPr>
          <a:xfrm>
            <a:off x="1447800" y="1714133"/>
            <a:ext cx="9742252" cy="415498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2400">
                <a:ea typeface="+mn-lt"/>
                <a:cs typeface="+mn-lt"/>
              </a:rPr>
              <a:t>The system must meet quality standards across performance, security, and reliability.</a:t>
            </a:r>
            <a:endParaRPr lang="en-US" sz="2400">
              <a:ea typeface="+mn-lt"/>
              <a:cs typeface="+mn-lt"/>
            </a:endParaRPr>
          </a:p>
          <a:p>
            <a:endParaRPr lang="en-GB" sz="2400" b="1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2400" b="1">
                <a:ea typeface="+mn-lt"/>
                <a:cs typeface="+mn-lt"/>
              </a:rPr>
              <a:t>Performance:</a:t>
            </a:r>
            <a:r>
              <a:rPr lang="en-GB" sz="2400">
                <a:ea typeface="+mn-lt"/>
                <a:cs typeface="+mn-lt"/>
              </a:rPr>
              <a:t> Fast response for recommendations and route generation</a:t>
            </a:r>
            <a:endParaRPr lang="en-GB" sz="24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2400" b="1">
                <a:ea typeface="+mn-lt"/>
                <a:cs typeface="+mn-lt"/>
              </a:rPr>
              <a:t>Security:</a:t>
            </a:r>
            <a:r>
              <a:rPr lang="en-GB" sz="2400">
                <a:ea typeface="+mn-lt"/>
                <a:cs typeface="+mn-lt"/>
              </a:rPr>
              <a:t> Data encrypted and securely stored in </a:t>
            </a:r>
            <a:r>
              <a:rPr lang="en-GB" sz="2400" err="1">
                <a:ea typeface="+mn-lt"/>
                <a:cs typeface="+mn-lt"/>
              </a:rPr>
              <a:t>Supabase</a:t>
            </a:r>
            <a:r>
              <a:rPr lang="en-GB" sz="2400">
                <a:ea typeface="+mn-lt"/>
                <a:cs typeface="+mn-lt"/>
              </a:rPr>
              <a:t>; unauthorized access prevented</a:t>
            </a:r>
            <a:endParaRPr lang="en-GB" sz="24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2400" b="1">
                <a:ea typeface="+mn-lt"/>
                <a:cs typeface="+mn-lt"/>
              </a:rPr>
              <a:t>Reliability:</a:t>
            </a:r>
            <a:r>
              <a:rPr lang="en-GB" sz="2400">
                <a:ea typeface="+mn-lt"/>
                <a:cs typeface="+mn-lt"/>
              </a:rPr>
              <a:t> Consistent operation without crashes; API fallbacks implemented</a:t>
            </a:r>
            <a:endParaRPr lang="en-GB" sz="24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2400" b="1">
                <a:ea typeface="+mn-lt"/>
                <a:cs typeface="+mn-lt"/>
              </a:rPr>
              <a:t>Scalability:</a:t>
            </a:r>
            <a:r>
              <a:rPr lang="en-GB" sz="2400">
                <a:ea typeface="+mn-lt"/>
                <a:cs typeface="+mn-lt"/>
              </a:rPr>
              <a:t> </a:t>
            </a:r>
            <a:r>
              <a:rPr lang="en-GB" sz="2400" err="1">
                <a:ea typeface="+mn-lt"/>
                <a:cs typeface="+mn-lt"/>
              </a:rPr>
              <a:t>Supabase</a:t>
            </a:r>
            <a:r>
              <a:rPr lang="en-GB" sz="2400">
                <a:ea typeface="+mn-lt"/>
                <a:cs typeface="+mn-lt"/>
              </a:rPr>
              <a:t> cloud infrastructure supports future expansion</a:t>
            </a:r>
          </a:p>
          <a:p>
            <a:endParaRPr lang="en-GB" sz="2400"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128130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7B3DB-89AA-14B3-332D-31DFB12A4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8A26EF-A318-360F-F153-9FAED24C4BF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30EA28-8372-9963-958F-EC98E3F96CC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1, Department of Computer Science, </a:t>
            </a:r>
            <a:r>
              <a:rPr lang="en-US" err="1"/>
              <a:t>Barani</a:t>
            </a:r>
            <a:r>
              <a:rPr lang="en-US"/>
              <a:t> Institute of Management Sciences, Rawalpindi </a:t>
            </a:r>
            <a:endParaRPr lang="en-US" spc="-5"/>
          </a:p>
        </p:txBody>
      </p:sp>
      <p:pic>
        <p:nvPicPr>
          <p:cNvPr id="3" name="Picture 2" descr="A white airplane icon on a dark background&#10;&#10;AI-generated content may be incorrect.">
            <a:extLst>
              <a:ext uri="{FF2B5EF4-FFF2-40B4-BE49-F238E27FC236}">
                <a16:creationId xmlns:a16="http://schemas.microsoft.com/office/drawing/2014/main" id="{7D4AC406-BD72-4E6B-8AF6-158552429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256" y="806173"/>
            <a:ext cx="2327227" cy="51793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416F7B1-2C21-1E1A-A5F4-4826FCE76B0C}"/>
              </a:ext>
            </a:extLst>
          </p:cNvPr>
          <p:cNvSpPr txBox="1"/>
          <p:nvPr/>
        </p:nvSpPr>
        <p:spPr>
          <a:xfrm>
            <a:off x="987918" y="227811"/>
            <a:ext cx="229404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ea typeface="Calibri"/>
                <a:cs typeface="Calibri"/>
              </a:rPr>
              <a:t>Splash screen </a:t>
            </a:r>
          </a:p>
        </p:txBody>
      </p:sp>
      <p:pic>
        <p:nvPicPr>
          <p:cNvPr id="10" name="Picture 9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A951F444-61DF-0963-410C-5DEB3E705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2562" y="800652"/>
            <a:ext cx="2310661" cy="516834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C336AF7-3B17-8B94-54A3-7D9748804CCD}"/>
              </a:ext>
            </a:extLst>
          </p:cNvPr>
          <p:cNvSpPr txBox="1"/>
          <p:nvPr/>
        </p:nvSpPr>
        <p:spPr>
          <a:xfrm>
            <a:off x="3365500" y="227598"/>
            <a:ext cx="248840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err="1">
                <a:ea typeface="Calibri"/>
                <a:cs typeface="Calibri"/>
              </a:rPr>
              <a:t>Onboardin</a:t>
            </a:r>
            <a:r>
              <a:rPr lang="en-US" sz="2000" b="1">
                <a:ea typeface="Calibri"/>
                <a:cs typeface="Calibri"/>
              </a:rPr>
              <a:t>g screen 1</a:t>
            </a:r>
          </a:p>
        </p:txBody>
      </p:sp>
      <p:pic>
        <p:nvPicPr>
          <p:cNvPr id="4" name="Picture 3" descr="A screenshot of a login screen&#10;&#10;AI-generated content may be incorrect.">
            <a:extLst>
              <a:ext uri="{FF2B5EF4-FFF2-40B4-BE49-F238E27FC236}">
                <a16:creationId xmlns:a16="http://schemas.microsoft.com/office/drawing/2014/main" id="{02CFA8D8-CE35-0E43-CD55-8273FC95D0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255" y="811696"/>
            <a:ext cx="2321706" cy="51628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14FEA44-226B-E015-EE00-86D3FB227B7D}"/>
              </a:ext>
            </a:extLst>
          </p:cNvPr>
          <p:cNvSpPr txBox="1"/>
          <p:nvPr/>
        </p:nvSpPr>
        <p:spPr>
          <a:xfrm>
            <a:off x="6632815" y="231050"/>
            <a:ext cx="198834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ea typeface="Calibri"/>
                <a:cs typeface="Calibri"/>
              </a:rPr>
              <a:t>Login screen</a:t>
            </a:r>
          </a:p>
        </p:txBody>
      </p:sp>
      <p:pic>
        <p:nvPicPr>
          <p:cNvPr id="7" name="Picture 6" descr="Screens screenshot of a phone&#10;&#10;AI-generated content may be incorrect.">
            <a:extLst>
              <a:ext uri="{FF2B5EF4-FFF2-40B4-BE49-F238E27FC236}">
                <a16:creationId xmlns:a16="http://schemas.microsoft.com/office/drawing/2014/main" id="{6DF55E8C-1024-A38C-56D4-47A7805E8E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4126" y="795131"/>
            <a:ext cx="2305141" cy="515178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D7DFF29-A18D-7383-40BA-E08F72091941}"/>
              </a:ext>
            </a:extLst>
          </p:cNvPr>
          <p:cNvSpPr txBox="1"/>
          <p:nvPr/>
        </p:nvSpPr>
        <p:spPr>
          <a:xfrm>
            <a:off x="8846344" y="273843"/>
            <a:ext cx="2988468" cy="3929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1337E3-B699-CAE9-7EC4-6F4F58E2F3FF}"/>
              </a:ext>
            </a:extLst>
          </p:cNvPr>
          <p:cNvSpPr txBox="1"/>
          <p:nvPr/>
        </p:nvSpPr>
        <p:spPr>
          <a:xfrm rot="-10800000" flipV="1">
            <a:off x="9610759" y="286439"/>
            <a:ext cx="164996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Calibri"/>
                <a:cs typeface="Calibri"/>
              </a:rPr>
              <a:t>Home Screen</a:t>
            </a:r>
          </a:p>
        </p:txBody>
      </p:sp>
    </p:spTree>
    <p:extLst>
      <p:ext uri="{BB962C8B-B14F-4D97-AF65-F5344CB8AC3E}">
        <p14:creationId xmlns:p14="http://schemas.microsoft.com/office/powerpoint/2010/main" val="37707007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F1D70-1A7C-42A0-F1DE-989371CF5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3A831-67D7-5E84-26C0-D8F7493C47C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468C26-B3F2-377F-9C7A-E02B05E0FF4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1, Department of Computer Science, </a:t>
            </a:r>
            <a:r>
              <a:rPr lang="en-US" err="1"/>
              <a:t>Barani</a:t>
            </a:r>
            <a:r>
              <a:rPr lang="en-US"/>
              <a:t> Institute of Management Sciences, Rawalpindi </a:t>
            </a:r>
            <a:endParaRPr lang="en-US" spc="-5"/>
          </a:p>
        </p:txBody>
      </p:sp>
      <p:pic>
        <p:nvPicPr>
          <p:cNvPr id="3" name="Picture 2" descr="Screenshots of a screenshot of a road and mountains&#10;&#10;AI-generated content may be incorrect.">
            <a:extLst>
              <a:ext uri="{FF2B5EF4-FFF2-40B4-BE49-F238E27FC236}">
                <a16:creationId xmlns:a16="http://schemas.microsoft.com/office/drawing/2014/main" id="{0400F112-5333-395D-7B6F-72C2D4B01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36" y="806173"/>
            <a:ext cx="2308067" cy="51793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E935F6-A224-D5EC-D668-456308A5CED4}"/>
              </a:ext>
            </a:extLst>
          </p:cNvPr>
          <p:cNvSpPr txBox="1"/>
          <p:nvPr/>
        </p:nvSpPr>
        <p:spPr>
          <a:xfrm>
            <a:off x="1076266" y="260941"/>
            <a:ext cx="229404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ea typeface="Calibri"/>
                <a:cs typeface="Calibri"/>
              </a:rPr>
              <a:t>Home Screen </a:t>
            </a:r>
          </a:p>
        </p:txBody>
      </p:sp>
      <p:pic>
        <p:nvPicPr>
          <p:cNvPr id="10" name="Picture 9" descr="A screenshot of a phone&#10;&#10;AI-generated content may be incorrect.">
            <a:extLst>
              <a:ext uri="{FF2B5EF4-FFF2-40B4-BE49-F238E27FC236}">
                <a16:creationId xmlns:a16="http://schemas.microsoft.com/office/drawing/2014/main" id="{F7E26F81-7646-615A-E464-9F0AB47617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6320" y="800652"/>
            <a:ext cx="2303145" cy="516834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3D30778-9808-2CA0-588A-EE4970823C50}"/>
              </a:ext>
            </a:extLst>
          </p:cNvPr>
          <p:cNvSpPr txBox="1"/>
          <p:nvPr/>
        </p:nvSpPr>
        <p:spPr>
          <a:xfrm>
            <a:off x="3685761" y="260728"/>
            <a:ext cx="248840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ea typeface="Calibri"/>
                <a:cs typeface="Calibri"/>
              </a:rPr>
              <a:t>Booking screen</a:t>
            </a:r>
          </a:p>
        </p:txBody>
      </p:sp>
      <p:pic>
        <p:nvPicPr>
          <p:cNvPr id="4" name="Picture 3" descr="A screenshot of a chat&#10;&#10;AI-generated content may be incorrect.">
            <a:extLst>
              <a:ext uri="{FF2B5EF4-FFF2-40B4-BE49-F238E27FC236}">
                <a16:creationId xmlns:a16="http://schemas.microsoft.com/office/drawing/2014/main" id="{5EA89B86-FEEE-5502-E67C-D78399880F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7541" y="813436"/>
            <a:ext cx="2299133" cy="51593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A90E6B3-3193-BCEB-B0B5-401862152863}"/>
              </a:ext>
            </a:extLst>
          </p:cNvPr>
          <p:cNvSpPr txBox="1"/>
          <p:nvPr/>
        </p:nvSpPr>
        <p:spPr>
          <a:xfrm>
            <a:off x="6467163" y="269703"/>
            <a:ext cx="198834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ea typeface="Calibri"/>
                <a:cs typeface="Calibri"/>
              </a:rPr>
              <a:t>Booking Details</a:t>
            </a:r>
          </a:p>
        </p:txBody>
      </p:sp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64156481-A688-8906-9CD7-447EB6B7A6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8815" y="795131"/>
            <a:ext cx="2295763" cy="515178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0D13DD8-3D9A-D95A-CCC1-C7B09DF1685F}"/>
              </a:ext>
            </a:extLst>
          </p:cNvPr>
          <p:cNvSpPr txBox="1"/>
          <p:nvPr/>
        </p:nvSpPr>
        <p:spPr>
          <a:xfrm>
            <a:off x="8846344" y="273843"/>
            <a:ext cx="2988468" cy="3929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1B2F9D-B3B3-9354-004E-B538052017A9}"/>
              </a:ext>
            </a:extLst>
          </p:cNvPr>
          <p:cNvSpPr txBox="1"/>
          <p:nvPr/>
        </p:nvSpPr>
        <p:spPr>
          <a:xfrm rot="10800000" flipV="1">
            <a:off x="9191106" y="297483"/>
            <a:ext cx="248926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Calibri"/>
                <a:cs typeface="Calibri"/>
              </a:rPr>
              <a:t>Booking </a:t>
            </a:r>
            <a:r>
              <a:rPr lang="en-US" b="1">
                <a:ea typeface="Calibri"/>
                <a:cs typeface="Calibri"/>
              </a:rPr>
              <a:t>Confirmation</a:t>
            </a:r>
            <a:endParaRPr lang="en-US" b="1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863120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7B12C-4183-F270-D588-DF4B2F81E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1CA97-A0AC-0773-83FD-E489E9864A4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3EFF7E-BFB5-A435-DE48-3954794FA70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1, Department of Computer Science, </a:t>
            </a:r>
            <a:r>
              <a:rPr lang="en-US" err="1"/>
              <a:t>Barani</a:t>
            </a:r>
            <a:r>
              <a:rPr lang="en-US"/>
              <a:t> Institute of Management Sciences, Rawalpindi </a:t>
            </a:r>
            <a:endParaRPr lang="en-US" spc="-5"/>
          </a:p>
        </p:txBody>
      </p:sp>
      <p:pic>
        <p:nvPicPr>
          <p:cNvPr id="3" name="Picture 2" descr="Screens screenshot of a phone&#10;&#10;AI-generated content may be incorrect.">
            <a:extLst>
              <a:ext uri="{FF2B5EF4-FFF2-40B4-BE49-F238E27FC236}">
                <a16:creationId xmlns:a16="http://schemas.microsoft.com/office/drawing/2014/main" id="{040C556E-E50D-D800-75CE-88AE41A40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23" y="767521"/>
            <a:ext cx="2308067" cy="51793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B282379-5550-6E9C-DD95-8E3C5F6129BD}"/>
              </a:ext>
            </a:extLst>
          </p:cNvPr>
          <p:cNvSpPr txBox="1"/>
          <p:nvPr/>
        </p:nvSpPr>
        <p:spPr>
          <a:xfrm>
            <a:off x="1076266" y="260941"/>
            <a:ext cx="229404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ea typeface="Calibri"/>
                <a:cs typeface="Calibri"/>
              </a:rPr>
              <a:t>Book a trip</a:t>
            </a:r>
          </a:p>
        </p:txBody>
      </p:sp>
      <p:pic>
        <p:nvPicPr>
          <p:cNvPr id="10" name="Picture 9" descr="A screenshot of a phone&#10;&#10;AI-generated content may be incorrect.">
            <a:extLst>
              <a:ext uri="{FF2B5EF4-FFF2-40B4-BE49-F238E27FC236}">
                <a16:creationId xmlns:a16="http://schemas.microsoft.com/office/drawing/2014/main" id="{8369E5B2-FB72-328C-65B6-C2B42D0DBF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6320" y="800652"/>
            <a:ext cx="2303145" cy="516834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1A4D35B-CF74-F94E-1815-9B540B5DC7B8}"/>
              </a:ext>
            </a:extLst>
          </p:cNvPr>
          <p:cNvSpPr txBox="1"/>
          <p:nvPr/>
        </p:nvSpPr>
        <p:spPr>
          <a:xfrm>
            <a:off x="3685761" y="260728"/>
            <a:ext cx="248840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ea typeface="Calibri"/>
                <a:cs typeface="Calibri"/>
              </a:rPr>
              <a:t>Booking filters</a:t>
            </a:r>
          </a:p>
        </p:txBody>
      </p:sp>
      <p:pic>
        <p:nvPicPr>
          <p:cNvPr id="4" name="Picture 3" descr="A screenshot of a phone&#10;&#10;AI-generated content may be incorrect.">
            <a:extLst>
              <a:ext uri="{FF2B5EF4-FFF2-40B4-BE49-F238E27FC236}">
                <a16:creationId xmlns:a16="http://schemas.microsoft.com/office/drawing/2014/main" id="{E4B2D1EA-BC87-8F05-776D-B03879A80F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7541" y="813437"/>
            <a:ext cx="2299133" cy="51593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414F61B-A6DB-4384-B416-8856135D14FF}"/>
              </a:ext>
            </a:extLst>
          </p:cNvPr>
          <p:cNvSpPr txBox="1"/>
          <p:nvPr/>
        </p:nvSpPr>
        <p:spPr>
          <a:xfrm>
            <a:off x="6307034" y="286268"/>
            <a:ext cx="268960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ea typeface="Calibri"/>
                <a:cs typeface="Calibri"/>
              </a:rPr>
              <a:t>Details </a:t>
            </a:r>
            <a:r>
              <a:rPr lang="en-US" sz="2000" b="1">
                <a:ea typeface="Calibri"/>
                <a:cs typeface="Calibri"/>
              </a:rPr>
              <a:t>Confirmation</a:t>
            </a:r>
            <a:endParaRPr lang="en-US" sz="2000" b="1" dirty="0">
              <a:ea typeface="Calibri"/>
              <a:cs typeface="Calibri"/>
            </a:endParaRPr>
          </a:p>
        </p:txBody>
      </p:sp>
      <p:pic>
        <p:nvPicPr>
          <p:cNvPr id="7" name="Picture 6" descr="A map with red points on it&#10;&#10;AI-generated content may be incorrect.">
            <a:extLst>
              <a:ext uri="{FF2B5EF4-FFF2-40B4-BE49-F238E27FC236}">
                <a16:creationId xmlns:a16="http://schemas.microsoft.com/office/drawing/2014/main" id="{C04DEB35-9454-D48A-9918-1B96DA9F5F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8815" y="820175"/>
            <a:ext cx="2295763" cy="510169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FCBCE06-1D0B-3C67-0980-5149B52F06B1}"/>
              </a:ext>
            </a:extLst>
          </p:cNvPr>
          <p:cNvSpPr txBox="1"/>
          <p:nvPr/>
        </p:nvSpPr>
        <p:spPr>
          <a:xfrm>
            <a:off x="8846344" y="273843"/>
            <a:ext cx="2988468" cy="3929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A342AD-811C-E180-B2A4-60F83B500DC2}"/>
              </a:ext>
            </a:extLst>
          </p:cNvPr>
          <p:cNvSpPr txBox="1"/>
          <p:nvPr/>
        </p:nvSpPr>
        <p:spPr>
          <a:xfrm rot="10800000" flipV="1">
            <a:off x="9605237" y="297483"/>
            <a:ext cx="248926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Calibri"/>
                <a:cs typeface="Calibri"/>
              </a:rPr>
              <a:t>Maps screen</a:t>
            </a:r>
            <a:endParaRPr lang="en-US" b="1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703147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BE2E0-11D2-BED3-1678-9E8031C77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319CE6-6460-AD4D-B82C-EA7B87A4E2B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27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BDBAB0-4157-B5E7-736D-933AEF1597E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1, Department of Computer Science, </a:t>
            </a:r>
            <a:r>
              <a:rPr lang="en-US" err="1"/>
              <a:t>Barani</a:t>
            </a:r>
            <a:r>
              <a:rPr lang="en-US"/>
              <a:t> Institute of Management Sciences, Rawalpindi </a:t>
            </a:r>
            <a:endParaRPr lang="en-US" spc="-5"/>
          </a:p>
        </p:txBody>
      </p:sp>
      <p:pic>
        <p:nvPicPr>
          <p:cNvPr id="3" name="Picture 2" descr="A screenshot of a chat&#10;&#10;AI-generated content may be incorrect.">
            <a:extLst>
              <a:ext uri="{FF2B5EF4-FFF2-40B4-BE49-F238E27FC236}">
                <a16:creationId xmlns:a16="http://schemas.microsoft.com/office/drawing/2014/main" id="{651F444A-BC15-F31D-AF51-ABF34EC78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23" y="739912"/>
            <a:ext cx="2308066" cy="51793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D9F2098-BAF0-851B-477F-861D5DF751AC}"/>
              </a:ext>
            </a:extLst>
          </p:cNvPr>
          <p:cNvSpPr txBox="1"/>
          <p:nvPr/>
        </p:nvSpPr>
        <p:spPr>
          <a:xfrm>
            <a:off x="1076266" y="260941"/>
            <a:ext cx="229404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ea typeface="Calibri"/>
                <a:cs typeface="Calibri"/>
              </a:rPr>
              <a:t>Chat screen</a:t>
            </a:r>
            <a:endParaRPr lang="en-US" sz="2000" b="1" dirty="0">
              <a:ea typeface="Calibri"/>
              <a:cs typeface="Calibri"/>
            </a:endParaRPr>
          </a:p>
        </p:txBody>
      </p:sp>
      <p:pic>
        <p:nvPicPr>
          <p:cNvPr id="10" name="Picture 9" descr="Screens screenshot of a phone&#10;&#10;AI-generated content may be incorrect.">
            <a:extLst>
              <a:ext uri="{FF2B5EF4-FFF2-40B4-BE49-F238E27FC236}">
                <a16:creationId xmlns:a16="http://schemas.microsoft.com/office/drawing/2014/main" id="{527EBC2B-4316-42B1-75FC-710D5520F6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9146" y="739913"/>
            <a:ext cx="2303144" cy="516834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5BCBDE3-C0BE-A505-7F51-D10B80CEB364}"/>
              </a:ext>
            </a:extLst>
          </p:cNvPr>
          <p:cNvSpPr txBox="1"/>
          <p:nvPr/>
        </p:nvSpPr>
        <p:spPr>
          <a:xfrm>
            <a:off x="3912152" y="260728"/>
            <a:ext cx="248840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ea typeface="Calibri"/>
                <a:cs typeface="Calibri"/>
              </a:rPr>
              <a:t>Chat screen </a:t>
            </a:r>
            <a:endParaRPr lang="en-US" sz="2000" b="1" dirty="0">
              <a:ea typeface="Calibri"/>
              <a:cs typeface="Calibri"/>
            </a:endParaRPr>
          </a:p>
        </p:txBody>
      </p:sp>
      <p:pic>
        <p:nvPicPr>
          <p:cNvPr id="4" name="Picture 3" descr="A screenshot of a phone&#10;&#10;AI-generated content may be incorrect.">
            <a:extLst>
              <a:ext uri="{FF2B5EF4-FFF2-40B4-BE49-F238E27FC236}">
                <a16:creationId xmlns:a16="http://schemas.microsoft.com/office/drawing/2014/main" id="{B7B2B7C0-80FB-7900-A275-D818062DF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7541" y="766734"/>
            <a:ext cx="2299133" cy="51091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15ED3E0-0A27-359F-B019-ED6B944CDF1A}"/>
              </a:ext>
            </a:extLst>
          </p:cNvPr>
          <p:cNvSpPr txBox="1"/>
          <p:nvPr/>
        </p:nvSpPr>
        <p:spPr>
          <a:xfrm>
            <a:off x="6610730" y="286268"/>
            <a:ext cx="268960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ea typeface="Calibri"/>
                <a:cs typeface="Calibri"/>
              </a:rPr>
              <a:t>Profile screen</a:t>
            </a:r>
          </a:p>
        </p:txBody>
      </p:sp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419FC5F0-A09A-4680-FE9A-06B2BA9165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9975" y="820175"/>
            <a:ext cx="2273442" cy="510169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AAA6110-DF00-0348-8A9C-5FF368FD7FD9}"/>
              </a:ext>
            </a:extLst>
          </p:cNvPr>
          <p:cNvSpPr txBox="1"/>
          <p:nvPr/>
        </p:nvSpPr>
        <p:spPr>
          <a:xfrm>
            <a:off x="8846344" y="273843"/>
            <a:ext cx="2988468" cy="3929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DF22C6-63AC-2FBB-5EC7-D6787A086781}"/>
              </a:ext>
            </a:extLst>
          </p:cNvPr>
          <p:cNvSpPr txBox="1"/>
          <p:nvPr/>
        </p:nvSpPr>
        <p:spPr>
          <a:xfrm rot="10800000" flipV="1">
            <a:off x="9301541" y="314048"/>
            <a:ext cx="248926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Calibri"/>
                <a:cs typeface="Calibri"/>
              </a:rPr>
              <a:t>Notification screen</a:t>
            </a:r>
            <a:endParaRPr lang="en-US" b="1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3648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/>
          <p:nvPr/>
        </p:nvSpPr>
        <p:spPr>
          <a:xfrm>
            <a:off x="2472182" y="6254191"/>
            <a:ext cx="7009765" cy="527685"/>
          </a:xfrm>
          <a:custGeom>
            <a:avLst/>
            <a:gdLst/>
            <a:ahLst/>
            <a:cxnLst/>
            <a:rect l="l" t="t" r="r" b="b"/>
            <a:pathLst>
              <a:path w="7009765" h="527684">
                <a:moveTo>
                  <a:pt x="0" y="527303"/>
                </a:moveTo>
                <a:lnTo>
                  <a:pt x="7009510" y="527303"/>
                </a:lnTo>
                <a:lnTo>
                  <a:pt x="7009510" y="0"/>
                </a:lnTo>
                <a:lnTo>
                  <a:pt x="0" y="0"/>
                </a:lnTo>
                <a:lnTo>
                  <a:pt x="0" y="527303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/>
          <p:cNvSpPr/>
          <p:nvPr/>
        </p:nvSpPr>
        <p:spPr>
          <a:xfrm>
            <a:off x="2539238" y="6470599"/>
            <a:ext cx="6875780" cy="218440"/>
          </a:xfrm>
          <a:custGeom>
            <a:avLst/>
            <a:gdLst/>
            <a:ahLst/>
            <a:cxnLst/>
            <a:rect l="l" t="t" r="r" b="b"/>
            <a:pathLst>
              <a:path w="6875780" h="218440">
                <a:moveTo>
                  <a:pt x="0" y="217932"/>
                </a:moveTo>
                <a:lnTo>
                  <a:pt x="6875398" y="217932"/>
                </a:lnTo>
                <a:lnTo>
                  <a:pt x="6875398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6"/>
          <p:cNvSpPr/>
          <p:nvPr/>
        </p:nvSpPr>
        <p:spPr>
          <a:xfrm>
            <a:off x="2472182" y="6162751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1"/>
                </a:moveTo>
                <a:lnTo>
                  <a:pt x="7009510" y="12191"/>
                </a:lnTo>
                <a:lnTo>
                  <a:pt x="7009510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7"/>
          <p:cNvSpPr/>
          <p:nvPr/>
        </p:nvSpPr>
        <p:spPr>
          <a:xfrm>
            <a:off x="2472182" y="6174943"/>
            <a:ext cx="7009765" cy="79375"/>
          </a:xfrm>
          <a:custGeom>
            <a:avLst/>
            <a:gdLst/>
            <a:ahLst/>
            <a:cxnLst/>
            <a:rect l="l" t="t" r="r" b="b"/>
            <a:pathLst>
              <a:path w="7009765" h="79375">
                <a:moveTo>
                  <a:pt x="0" y="79247"/>
                </a:moveTo>
                <a:lnTo>
                  <a:pt x="7009510" y="79247"/>
                </a:lnTo>
                <a:lnTo>
                  <a:pt x="7009510" y="0"/>
                </a:lnTo>
                <a:lnTo>
                  <a:pt x="0" y="0"/>
                </a:lnTo>
                <a:lnTo>
                  <a:pt x="0" y="79247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8"/>
          <p:cNvSpPr/>
          <p:nvPr/>
        </p:nvSpPr>
        <p:spPr>
          <a:xfrm>
            <a:off x="2466086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9"/>
          <p:cNvSpPr/>
          <p:nvPr/>
        </p:nvSpPr>
        <p:spPr>
          <a:xfrm>
            <a:off x="2472182" y="6781494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2"/>
                </a:moveTo>
                <a:lnTo>
                  <a:pt x="7009510" y="12192"/>
                </a:lnTo>
                <a:lnTo>
                  <a:pt x="7009510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0"/>
          <p:cNvSpPr/>
          <p:nvPr/>
        </p:nvSpPr>
        <p:spPr>
          <a:xfrm>
            <a:off x="9487789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1"/>
          <p:cNvSpPr txBox="1">
            <a:spLocks noGrp="1"/>
          </p:cNvSpPr>
          <p:nvPr>
            <p:ph type="title"/>
          </p:nvPr>
        </p:nvSpPr>
        <p:spPr>
          <a:xfrm>
            <a:off x="1412461" y="600765"/>
            <a:ext cx="9199683" cy="6914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2515" marR="5080" indent="-1096645" algn="ctr">
              <a:lnSpc>
                <a:spcPct val="105300"/>
              </a:lnSpc>
              <a:spcBef>
                <a:spcPts val="100"/>
              </a:spcBef>
            </a:pPr>
            <a:r>
              <a:rPr lang="en-AU" sz="4400">
                <a:latin typeface="+mj-lt"/>
              </a:rPr>
              <a:t>Key Features</a:t>
            </a:r>
            <a:endParaRPr sz="4400">
              <a:latin typeface="+mj-lt"/>
            </a:endParaRPr>
          </a:p>
        </p:txBody>
      </p:sp>
      <p:sp>
        <p:nvSpPr>
          <p:cNvPr id="16" name="object 3"/>
          <p:cNvSpPr txBox="1"/>
          <p:nvPr/>
        </p:nvSpPr>
        <p:spPr>
          <a:xfrm>
            <a:off x="457200" y="5760755"/>
            <a:ext cx="11582400" cy="259045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12700" algn="just">
              <a:spcBef>
                <a:spcPts val="820"/>
              </a:spcBef>
              <a:tabLst>
                <a:tab pos="241300" algn="l"/>
              </a:tabLst>
            </a:pPr>
            <a:r>
              <a:rPr lang="en-US" sz="10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F42CC9-DD71-466B-8A80-B18FDBBDC7A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28</a:t>
            </a:fld>
            <a:endParaRPr lang="x-none"/>
          </a:p>
        </p:txBody>
      </p:sp>
      <p:sp>
        <p:nvSpPr>
          <p:cNvPr id="17" name="Footer Placeholder 7">
            <a:extLst>
              <a:ext uri="{FF2B5EF4-FFF2-40B4-BE49-F238E27FC236}">
                <a16:creationId xmlns:a16="http://schemas.microsoft.com/office/drawing/2014/main" id="{7E4D364E-C2C4-4992-A9EE-6524CA64BF4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1, Department of Computer Science, </a:t>
            </a:r>
            <a:r>
              <a:rPr lang="en-US" err="1"/>
              <a:t>Barani</a:t>
            </a:r>
            <a:r>
              <a:rPr lang="en-US"/>
              <a:t> Institute of Management Sciences, Rawalpindi </a:t>
            </a:r>
            <a:endParaRPr lang="en-US" spc="-5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09CE18-A1C5-8E8B-0EAD-B557A1024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0023" y="1534828"/>
            <a:ext cx="9391954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AU" sz="2400">
                <a:ea typeface="+mn-lt"/>
                <a:cs typeface="+mn-lt"/>
              </a:rPr>
              <a:t>Eight core features built across the full stack deliver a complete travel planning experience.</a:t>
            </a:r>
            <a:endParaRPr lang="en-US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AU" sz="2400">
                <a:ea typeface="+mn-lt"/>
                <a:cs typeface="+mn-lt"/>
              </a:rPr>
              <a:t>NLP-based natural language travel query processing</a:t>
            </a:r>
            <a:endParaRPr lang="en-AU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AU" sz="2400">
                <a:ea typeface="+mn-lt"/>
                <a:cs typeface="+mn-lt"/>
              </a:rPr>
              <a:t>Dual route generation — fastest + tourist-friendly scenic route</a:t>
            </a:r>
            <a:endParaRPr lang="en-AU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AU" sz="2400" dirty="0">
                <a:ea typeface="+mn-lt"/>
                <a:cs typeface="+mn-lt"/>
              </a:rPr>
              <a:t>Dynamic destination imagery via </a:t>
            </a:r>
            <a:r>
              <a:rPr lang="en-AU" sz="2400" dirty="0" err="1">
                <a:ea typeface="+mn-lt"/>
                <a:cs typeface="+mn-lt"/>
              </a:rPr>
              <a:t>Unsplash</a:t>
            </a:r>
            <a:r>
              <a:rPr lang="en-AU" sz="2400" dirty="0">
                <a:ea typeface="+mn-lt"/>
                <a:cs typeface="+mn-lt"/>
              </a:rPr>
              <a:t> API</a:t>
            </a:r>
            <a:endParaRPr lang="en-AU" dirty="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AU" sz="2400">
                <a:ea typeface="+mn-lt"/>
                <a:cs typeface="+mn-lt"/>
              </a:rPr>
              <a:t>POI filtering by type (parks, museums, landmarks, food, shopping)</a:t>
            </a:r>
            <a:endParaRPr lang="en-GB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AU" sz="2400">
                <a:ea typeface="+mn-lt"/>
                <a:cs typeface="+mn-lt"/>
              </a:rPr>
              <a:t>Trip booking and full itinerary customization</a:t>
            </a:r>
            <a:endParaRPr lang="en-AU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AU" sz="2400">
                <a:ea typeface="+mn-lt"/>
                <a:cs typeface="+mn-lt"/>
              </a:rPr>
              <a:t>AI Chat assistant built into the app</a:t>
            </a:r>
            <a:endParaRPr lang="en-AU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AU" sz="2400" dirty="0">
                <a:ea typeface="+mn-lt"/>
                <a:cs typeface="+mn-lt"/>
              </a:rPr>
              <a:t>Cloud backend — Python + </a:t>
            </a:r>
            <a:r>
              <a:rPr lang="en-AU" sz="2400" dirty="0" err="1">
                <a:ea typeface="+mn-lt"/>
                <a:cs typeface="+mn-lt"/>
              </a:rPr>
              <a:t>Supabase</a:t>
            </a:r>
            <a:endParaRPr lang="en-AU" sz="240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AU" sz="2400">
                <a:ea typeface="+mn-lt"/>
                <a:cs typeface="+mn-lt"/>
              </a:rPr>
              <a:t>Cross-platform — single Flutter codebase for Android &amp; iOS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9830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ACEFE-D514-574B-7545-145ECBD14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CB8A2C2B-0352-5E58-6917-F1DCF21FE6E5}"/>
              </a:ext>
            </a:extLst>
          </p:cNvPr>
          <p:cNvSpPr/>
          <p:nvPr/>
        </p:nvSpPr>
        <p:spPr>
          <a:xfrm>
            <a:off x="2472182" y="6254191"/>
            <a:ext cx="7009765" cy="527685"/>
          </a:xfrm>
          <a:custGeom>
            <a:avLst/>
            <a:gdLst/>
            <a:ahLst/>
            <a:cxnLst/>
            <a:rect l="l" t="t" r="r" b="b"/>
            <a:pathLst>
              <a:path w="7009765" h="527684">
                <a:moveTo>
                  <a:pt x="0" y="527303"/>
                </a:moveTo>
                <a:lnTo>
                  <a:pt x="7009510" y="527303"/>
                </a:lnTo>
                <a:lnTo>
                  <a:pt x="7009510" y="0"/>
                </a:lnTo>
                <a:lnTo>
                  <a:pt x="0" y="0"/>
                </a:lnTo>
                <a:lnTo>
                  <a:pt x="0" y="527303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F067D4FA-F797-878B-0061-1BD85EBCFB04}"/>
              </a:ext>
            </a:extLst>
          </p:cNvPr>
          <p:cNvSpPr/>
          <p:nvPr/>
        </p:nvSpPr>
        <p:spPr>
          <a:xfrm>
            <a:off x="2539238" y="6470599"/>
            <a:ext cx="6875780" cy="218440"/>
          </a:xfrm>
          <a:custGeom>
            <a:avLst/>
            <a:gdLst/>
            <a:ahLst/>
            <a:cxnLst/>
            <a:rect l="l" t="t" r="r" b="b"/>
            <a:pathLst>
              <a:path w="6875780" h="218440">
                <a:moveTo>
                  <a:pt x="0" y="217932"/>
                </a:moveTo>
                <a:lnTo>
                  <a:pt x="6875398" y="217932"/>
                </a:lnTo>
                <a:lnTo>
                  <a:pt x="6875398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5FE8CC53-8A73-31AB-0BB0-30520673B4D6}"/>
              </a:ext>
            </a:extLst>
          </p:cNvPr>
          <p:cNvSpPr/>
          <p:nvPr/>
        </p:nvSpPr>
        <p:spPr>
          <a:xfrm>
            <a:off x="2472182" y="6162751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1"/>
                </a:moveTo>
                <a:lnTo>
                  <a:pt x="7009510" y="12191"/>
                </a:lnTo>
                <a:lnTo>
                  <a:pt x="7009510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3A710DC7-089E-7A70-742C-47D2C6A5C4DA}"/>
              </a:ext>
            </a:extLst>
          </p:cNvPr>
          <p:cNvSpPr/>
          <p:nvPr/>
        </p:nvSpPr>
        <p:spPr>
          <a:xfrm>
            <a:off x="2472182" y="6174943"/>
            <a:ext cx="7009765" cy="79375"/>
          </a:xfrm>
          <a:custGeom>
            <a:avLst/>
            <a:gdLst/>
            <a:ahLst/>
            <a:cxnLst/>
            <a:rect l="l" t="t" r="r" b="b"/>
            <a:pathLst>
              <a:path w="7009765" h="79375">
                <a:moveTo>
                  <a:pt x="0" y="79247"/>
                </a:moveTo>
                <a:lnTo>
                  <a:pt x="7009510" y="79247"/>
                </a:lnTo>
                <a:lnTo>
                  <a:pt x="7009510" y="0"/>
                </a:lnTo>
                <a:lnTo>
                  <a:pt x="0" y="0"/>
                </a:lnTo>
                <a:lnTo>
                  <a:pt x="0" y="79247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043D7D1D-23E4-EF01-5EA9-7CBFE5C349EF}"/>
              </a:ext>
            </a:extLst>
          </p:cNvPr>
          <p:cNvSpPr/>
          <p:nvPr/>
        </p:nvSpPr>
        <p:spPr>
          <a:xfrm>
            <a:off x="2466086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B5AE0163-1C2B-97A5-E8CB-0852C30626AC}"/>
              </a:ext>
            </a:extLst>
          </p:cNvPr>
          <p:cNvSpPr/>
          <p:nvPr/>
        </p:nvSpPr>
        <p:spPr>
          <a:xfrm>
            <a:off x="2472182" y="6781494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2"/>
                </a:moveTo>
                <a:lnTo>
                  <a:pt x="7009510" y="12192"/>
                </a:lnTo>
                <a:lnTo>
                  <a:pt x="7009510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0DE0CED5-8907-AA17-E8D4-6384956FC774}"/>
              </a:ext>
            </a:extLst>
          </p:cNvPr>
          <p:cNvSpPr/>
          <p:nvPr/>
        </p:nvSpPr>
        <p:spPr>
          <a:xfrm>
            <a:off x="9487789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1">
            <a:extLst>
              <a:ext uri="{FF2B5EF4-FFF2-40B4-BE49-F238E27FC236}">
                <a16:creationId xmlns:a16="http://schemas.microsoft.com/office/drawing/2014/main" id="{AC1907B4-BF6C-CF3A-D763-67EAD8842E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00200" y="381000"/>
            <a:ext cx="9199683" cy="6949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2515" marR="5080" indent="-1096645" algn="ctr">
              <a:lnSpc>
                <a:spcPct val="105300"/>
              </a:lnSpc>
              <a:spcBef>
                <a:spcPts val="100"/>
              </a:spcBef>
            </a:pPr>
            <a:r>
              <a:rPr lang="en-US" sz="4400" spc="-5">
                <a:latin typeface="+mj-lt"/>
              </a:rPr>
              <a:t>Significance</a:t>
            </a:r>
            <a:endParaRPr sz="4400">
              <a:latin typeface="+mj-lt"/>
            </a:endParaRPr>
          </a:p>
        </p:txBody>
      </p:sp>
      <p:sp>
        <p:nvSpPr>
          <p:cNvPr id="16" name="object 3">
            <a:extLst>
              <a:ext uri="{FF2B5EF4-FFF2-40B4-BE49-F238E27FC236}">
                <a16:creationId xmlns:a16="http://schemas.microsoft.com/office/drawing/2014/main" id="{226DB540-D349-16D7-79BE-33E20BAFD31C}"/>
              </a:ext>
            </a:extLst>
          </p:cNvPr>
          <p:cNvSpPr txBox="1"/>
          <p:nvPr/>
        </p:nvSpPr>
        <p:spPr>
          <a:xfrm>
            <a:off x="457200" y="5760755"/>
            <a:ext cx="11582400" cy="259045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12700" algn="just">
              <a:spcBef>
                <a:spcPts val="820"/>
              </a:spcBef>
              <a:tabLst>
                <a:tab pos="241300" algn="l"/>
              </a:tabLst>
            </a:pPr>
            <a:r>
              <a:rPr lang="en-US" sz="10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C32EFF-D381-6288-94F7-B32DD9E9AA1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29</a:t>
            </a:fld>
            <a:endParaRPr lang="x-none"/>
          </a:p>
        </p:txBody>
      </p:sp>
      <p:sp>
        <p:nvSpPr>
          <p:cNvPr id="17" name="Footer Placeholder 7">
            <a:extLst>
              <a:ext uri="{FF2B5EF4-FFF2-40B4-BE49-F238E27FC236}">
                <a16:creationId xmlns:a16="http://schemas.microsoft.com/office/drawing/2014/main" id="{2F302918-FC98-5873-8FA3-F3D225CCC18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1, Department of Computer Science, </a:t>
            </a:r>
            <a:r>
              <a:rPr lang="en-US" err="1"/>
              <a:t>Barani</a:t>
            </a:r>
            <a:r>
              <a:rPr lang="en-US"/>
              <a:t> Institute of Management Sciences, Rawalpindi </a:t>
            </a:r>
            <a:endParaRPr lang="en-US" spc="-5"/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0027173E-6E32-D620-89C9-858A8A196F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1857" y="1462121"/>
            <a:ext cx="949628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/>
            <a:r>
              <a:rPr lang="en-US" sz="2400" dirty="0">
                <a:ea typeface="+mn-lt"/>
                <a:cs typeface="+mn-lt"/>
              </a:rPr>
              <a:t>This project delivers real value for Pakistani travelers while demonstrating practical integration of AI, cloud, and mobile technologies.</a:t>
            </a:r>
            <a:endParaRPr lang="en-US" sz="2400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Unifies </a:t>
            </a:r>
            <a:r>
              <a:rPr kumimoji="0" lang="en-US" sz="2400" b="0" i="0" u="none" strike="noStrike" cap="none" normalizeH="0" baseline="0">
                <a:ln>
                  <a:noFill/>
                </a:ln>
                <a:effectLst/>
                <a:ea typeface="+mn-lt"/>
                <a:cs typeface="+mn-lt"/>
              </a:rPr>
              <a:t>navigation and tourism </a:t>
            </a:r>
            <a:r>
              <a:rPr lang="en-US" sz="2400">
                <a:ea typeface="+mn-lt"/>
                <a:cs typeface="+mn-lt"/>
              </a:rPr>
              <a:t>— no more app-switching</a:t>
            </a:r>
            <a:endParaRPr lang="en-GB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ea typeface="+mn-lt"/>
                <a:cs typeface="+mn-lt"/>
              </a:rPr>
              <a:t>Promotes local tourism across Pakistan (Hunza, Skardu, Islamabad, Lahore, </a:t>
            </a:r>
            <a:r>
              <a:rPr lang="en-US" sz="2400" dirty="0" err="1">
                <a:ea typeface="+mn-lt"/>
                <a:cs typeface="+mn-lt"/>
              </a:rPr>
              <a:t>etc</a:t>
            </a:r>
            <a:r>
              <a:rPr lang="en-US" sz="2400" dirty="0">
                <a:ea typeface="+mn-lt"/>
                <a:cs typeface="+mn-lt"/>
              </a:rPr>
              <a:t>)</a:t>
            </a: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ea typeface="+mn-lt"/>
                <a:cs typeface="+mn-lt"/>
              </a:rPr>
              <a:t>NLP makes trip planning accessible — plain English instead of dropdowns</a:t>
            </a:r>
            <a:endParaRPr lang="en-GB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ea typeface="+mn-lt"/>
                <a:cs typeface="+mn-lt"/>
              </a:rPr>
              <a:t>Supabase</a:t>
            </a:r>
            <a:r>
              <a:rPr lang="en-US" sz="2400" dirty="0">
                <a:ea typeface="+mn-lt"/>
                <a:cs typeface="+mn-lt"/>
              </a:rPr>
              <a:t> ensures scalable, secure, production-ready infrastructure</a:t>
            </a: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ea typeface="+mn-lt"/>
                <a:cs typeface="+mn-lt"/>
              </a:rPr>
              <a:t>Extensible for travel agencies, tourism boards, or commercial platforms</a:t>
            </a:r>
          </a:p>
        </p:txBody>
      </p:sp>
    </p:spTree>
    <p:extLst>
      <p:ext uri="{BB962C8B-B14F-4D97-AF65-F5344CB8AC3E}">
        <p14:creationId xmlns:p14="http://schemas.microsoft.com/office/powerpoint/2010/main" val="4351689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9B5F7-741D-CD5E-09C6-C1C3C6CA4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DDBC33A7-278C-9A63-2486-7CB608899B99}"/>
              </a:ext>
            </a:extLst>
          </p:cNvPr>
          <p:cNvSpPr/>
          <p:nvPr/>
        </p:nvSpPr>
        <p:spPr>
          <a:xfrm>
            <a:off x="2472182" y="6254191"/>
            <a:ext cx="7009765" cy="527685"/>
          </a:xfrm>
          <a:custGeom>
            <a:avLst/>
            <a:gdLst/>
            <a:ahLst/>
            <a:cxnLst/>
            <a:rect l="l" t="t" r="r" b="b"/>
            <a:pathLst>
              <a:path w="7009765" h="527684">
                <a:moveTo>
                  <a:pt x="0" y="527303"/>
                </a:moveTo>
                <a:lnTo>
                  <a:pt x="7009510" y="527303"/>
                </a:lnTo>
                <a:lnTo>
                  <a:pt x="7009510" y="0"/>
                </a:lnTo>
                <a:lnTo>
                  <a:pt x="0" y="0"/>
                </a:lnTo>
                <a:lnTo>
                  <a:pt x="0" y="527303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2ED27209-3872-0834-2570-770BBE1BF77C}"/>
              </a:ext>
            </a:extLst>
          </p:cNvPr>
          <p:cNvSpPr/>
          <p:nvPr/>
        </p:nvSpPr>
        <p:spPr>
          <a:xfrm>
            <a:off x="2539238" y="6470599"/>
            <a:ext cx="6875780" cy="218440"/>
          </a:xfrm>
          <a:custGeom>
            <a:avLst/>
            <a:gdLst/>
            <a:ahLst/>
            <a:cxnLst/>
            <a:rect l="l" t="t" r="r" b="b"/>
            <a:pathLst>
              <a:path w="6875780" h="218440">
                <a:moveTo>
                  <a:pt x="0" y="217932"/>
                </a:moveTo>
                <a:lnTo>
                  <a:pt x="6875398" y="217932"/>
                </a:lnTo>
                <a:lnTo>
                  <a:pt x="6875398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3170F975-83DF-6FF3-904A-A36A7B53BDD9}"/>
              </a:ext>
            </a:extLst>
          </p:cNvPr>
          <p:cNvSpPr/>
          <p:nvPr/>
        </p:nvSpPr>
        <p:spPr>
          <a:xfrm>
            <a:off x="2472182" y="6162751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1"/>
                </a:moveTo>
                <a:lnTo>
                  <a:pt x="7009510" y="12191"/>
                </a:lnTo>
                <a:lnTo>
                  <a:pt x="7009510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D57990DE-2BC5-34D8-385B-4D6806170785}"/>
              </a:ext>
            </a:extLst>
          </p:cNvPr>
          <p:cNvSpPr/>
          <p:nvPr/>
        </p:nvSpPr>
        <p:spPr>
          <a:xfrm>
            <a:off x="2472182" y="6174943"/>
            <a:ext cx="7009765" cy="79375"/>
          </a:xfrm>
          <a:custGeom>
            <a:avLst/>
            <a:gdLst/>
            <a:ahLst/>
            <a:cxnLst/>
            <a:rect l="l" t="t" r="r" b="b"/>
            <a:pathLst>
              <a:path w="7009765" h="79375">
                <a:moveTo>
                  <a:pt x="0" y="79247"/>
                </a:moveTo>
                <a:lnTo>
                  <a:pt x="7009510" y="79247"/>
                </a:lnTo>
                <a:lnTo>
                  <a:pt x="7009510" y="0"/>
                </a:lnTo>
                <a:lnTo>
                  <a:pt x="0" y="0"/>
                </a:lnTo>
                <a:lnTo>
                  <a:pt x="0" y="79247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BA9B029B-3B00-B755-2BC7-AB43298EA7C2}"/>
              </a:ext>
            </a:extLst>
          </p:cNvPr>
          <p:cNvSpPr/>
          <p:nvPr/>
        </p:nvSpPr>
        <p:spPr>
          <a:xfrm>
            <a:off x="2466086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57D38D48-A893-7BB2-8AB5-7988384BDD54}"/>
              </a:ext>
            </a:extLst>
          </p:cNvPr>
          <p:cNvSpPr/>
          <p:nvPr/>
        </p:nvSpPr>
        <p:spPr>
          <a:xfrm>
            <a:off x="2472182" y="6781494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2"/>
                </a:moveTo>
                <a:lnTo>
                  <a:pt x="7009510" y="12192"/>
                </a:lnTo>
                <a:lnTo>
                  <a:pt x="7009510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655DE7F3-11AC-250F-8D9B-67A3CCF66013}"/>
              </a:ext>
            </a:extLst>
          </p:cNvPr>
          <p:cNvSpPr/>
          <p:nvPr/>
        </p:nvSpPr>
        <p:spPr>
          <a:xfrm>
            <a:off x="9487789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1">
            <a:extLst>
              <a:ext uri="{FF2B5EF4-FFF2-40B4-BE49-F238E27FC236}">
                <a16:creationId xmlns:a16="http://schemas.microsoft.com/office/drawing/2014/main" id="{9A5A82FB-C175-7945-F65E-177A8FFAA2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00200" y="584632"/>
            <a:ext cx="9199683" cy="6914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2515" marR="5080" indent="-1096645" algn="ctr">
              <a:lnSpc>
                <a:spcPct val="105300"/>
              </a:lnSpc>
              <a:spcBef>
                <a:spcPts val="100"/>
              </a:spcBef>
            </a:pPr>
            <a:r>
              <a:rPr lang="en-AU" sz="4400">
                <a:latin typeface="+mj-lt"/>
              </a:rPr>
              <a:t>Challenges &amp; Limitations</a:t>
            </a:r>
            <a:endParaRPr sz="4400">
              <a:latin typeface="+mj-lt"/>
            </a:endParaRPr>
          </a:p>
        </p:txBody>
      </p:sp>
      <p:sp>
        <p:nvSpPr>
          <p:cNvPr id="16" name="object 3">
            <a:extLst>
              <a:ext uri="{FF2B5EF4-FFF2-40B4-BE49-F238E27FC236}">
                <a16:creationId xmlns:a16="http://schemas.microsoft.com/office/drawing/2014/main" id="{E3FA5A7A-5AFC-41C2-49C4-3C4B7C1A392E}"/>
              </a:ext>
            </a:extLst>
          </p:cNvPr>
          <p:cNvSpPr txBox="1"/>
          <p:nvPr/>
        </p:nvSpPr>
        <p:spPr>
          <a:xfrm>
            <a:off x="457200" y="5760755"/>
            <a:ext cx="11582400" cy="259045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12700" algn="just">
              <a:spcBef>
                <a:spcPts val="820"/>
              </a:spcBef>
              <a:tabLst>
                <a:tab pos="241300" algn="l"/>
              </a:tabLst>
            </a:pPr>
            <a:r>
              <a:rPr lang="en-US" sz="10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5FC30A-4FF9-4E0D-1344-AF235497ACA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30</a:t>
            </a:fld>
            <a:endParaRPr lang="x-none"/>
          </a:p>
        </p:txBody>
      </p:sp>
      <p:sp>
        <p:nvSpPr>
          <p:cNvPr id="17" name="Footer Placeholder 7">
            <a:extLst>
              <a:ext uri="{FF2B5EF4-FFF2-40B4-BE49-F238E27FC236}">
                <a16:creationId xmlns:a16="http://schemas.microsoft.com/office/drawing/2014/main" id="{98B7174C-81C3-542C-F50B-27EAAE3CDA0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1, Department of Computer Science, </a:t>
            </a:r>
            <a:r>
              <a:rPr lang="en-US" err="1"/>
              <a:t>Barani</a:t>
            </a:r>
            <a:r>
              <a:rPr lang="en-US"/>
              <a:t> Institute of Management Sciences, Rawalpindi </a:t>
            </a:r>
            <a:endParaRPr lang="en-US" spc="-5"/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3F52F289-0253-8DD0-56E1-DD5E376632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6900" y="3025444"/>
            <a:ext cx="84582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8BB157-A579-D130-E420-BF148525BD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8552" y="1717394"/>
            <a:ext cx="8932983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ea typeface="+mn-lt"/>
                <a:cs typeface="+mn-lt"/>
              </a:rPr>
              <a:t>Several limitations in the current state are acknowledged and planned for resolution in the next phase.</a:t>
            </a:r>
            <a:endParaRPr lang="en-US" sz="240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en-US" sz="2400" b="1" dirty="0"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ea typeface="+mn-lt"/>
                <a:cs typeface="+mn-lt"/>
              </a:rPr>
              <a:t>Hardcoded dummy data — live </a:t>
            </a:r>
            <a:r>
              <a:rPr lang="en-US" sz="2400" dirty="0" err="1">
                <a:ea typeface="+mn-lt"/>
                <a:cs typeface="+mn-lt"/>
              </a:rPr>
              <a:t>Supabase</a:t>
            </a:r>
            <a:r>
              <a:rPr lang="en-US" sz="2400" dirty="0">
                <a:ea typeface="+mn-lt"/>
                <a:cs typeface="+mn-lt"/>
              </a:rPr>
              <a:t> population pending</a:t>
            </a:r>
            <a:endParaRPr lang="en-US" sz="2400" dirty="0"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ea typeface="+mn-lt"/>
                <a:cs typeface="+mn-lt"/>
              </a:rPr>
              <a:t>NLP accuracy varies for complex </a:t>
            </a:r>
            <a:r>
              <a:rPr kumimoji="0" lang="en-US" sz="2400" b="0" i="0" u="none" strike="noStrike" cap="none" normalizeH="0" baseline="0">
                <a:ln>
                  <a:noFill/>
                </a:ln>
                <a:effectLst/>
                <a:ea typeface="+mn-lt"/>
                <a:cs typeface="+mn-lt"/>
              </a:rPr>
              <a:t>or </a:t>
            </a:r>
            <a:r>
              <a:rPr lang="en-US" sz="2400">
                <a:ea typeface="+mn-lt"/>
                <a:cs typeface="+mn-lt"/>
              </a:rPr>
              <a:t>ambiguous queries</a:t>
            </a:r>
            <a:endParaRPr lang="en-US" sz="2400"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0" lang="en-US" sz="2400" b="0" i="0" u="none" strike="noStrike" cap="none" normalizeH="0" baseline="0">
                <a:ln>
                  <a:noFill/>
                </a:ln>
                <a:effectLst/>
                <a:ea typeface="+mn-lt"/>
                <a:cs typeface="+mn-lt"/>
              </a:rPr>
              <a:t>Requires stable internet </a:t>
            </a:r>
            <a:r>
              <a:rPr lang="en-US" sz="2400">
                <a:ea typeface="+mn-lt"/>
                <a:cs typeface="+mn-lt"/>
              </a:rPr>
              <a:t>— no offline mode yet</a:t>
            </a:r>
            <a:endParaRPr lang="en-US" sz="2400"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ea typeface="+mn-lt"/>
                <a:cs typeface="+mn-lt"/>
              </a:rPr>
              <a:t>Full iOS deployment requires Apple Developer account</a:t>
            </a:r>
            <a:endParaRPr lang="en-US" sz="2400"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ea typeface="+mn-lt"/>
                <a:cs typeface="+mn-lt"/>
              </a:rPr>
              <a:t>Destination coverage currently limited to major Pakistani cities</a:t>
            </a:r>
            <a:endParaRPr lang="en-US" sz="2400">
              <a:ea typeface="Calibri"/>
              <a:cs typeface="Calibri"/>
            </a:endParaRPr>
          </a:p>
          <a:p>
            <a:pPr marL="342900" marR="0" lvl="0" indent="-34290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055628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F7FC9-5C62-08C6-9900-A881B0D6E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42F77C93-2785-45C0-6BE3-A7E526BB0CA9}"/>
              </a:ext>
            </a:extLst>
          </p:cNvPr>
          <p:cNvSpPr/>
          <p:nvPr/>
        </p:nvSpPr>
        <p:spPr>
          <a:xfrm>
            <a:off x="2472182" y="6254191"/>
            <a:ext cx="7009765" cy="527685"/>
          </a:xfrm>
          <a:custGeom>
            <a:avLst/>
            <a:gdLst/>
            <a:ahLst/>
            <a:cxnLst/>
            <a:rect l="l" t="t" r="r" b="b"/>
            <a:pathLst>
              <a:path w="7009765" h="527684">
                <a:moveTo>
                  <a:pt x="0" y="527303"/>
                </a:moveTo>
                <a:lnTo>
                  <a:pt x="7009510" y="527303"/>
                </a:lnTo>
                <a:lnTo>
                  <a:pt x="7009510" y="0"/>
                </a:lnTo>
                <a:lnTo>
                  <a:pt x="0" y="0"/>
                </a:lnTo>
                <a:lnTo>
                  <a:pt x="0" y="527303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72A1E521-31DA-6126-A832-9A93EFE37265}"/>
              </a:ext>
            </a:extLst>
          </p:cNvPr>
          <p:cNvSpPr/>
          <p:nvPr/>
        </p:nvSpPr>
        <p:spPr>
          <a:xfrm>
            <a:off x="2539238" y="6470599"/>
            <a:ext cx="6875780" cy="218440"/>
          </a:xfrm>
          <a:custGeom>
            <a:avLst/>
            <a:gdLst/>
            <a:ahLst/>
            <a:cxnLst/>
            <a:rect l="l" t="t" r="r" b="b"/>
            <a:pathLst>
              <a:path w="6875780" h="218440">
                <a:moveTo>
                  <a:pt x="0" y="217932"/>
                </a:moveTo>
                <a:lnTo>
                  <a:pt x="6875398" y="217932"/>
                </a:lnTo>
                <a:lnTo>
                  <a:pt x="6875398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72011EB5-420F-812E-84A9-0462FFAB098B}"/>
              </a:ext>
            </a:extLst>
          </p:cNvPr>
          <p:cNvSpPr/>
          <p:nvPr/>
        </p:nvSpPr>
        <p:spPr>
          <a:xfrm>
            <a:off x="2472182" y="6162751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1"/>
                </a:moveTo>
                <a:lnTo>
                  <a:pt x="7009510" y="12191"/>
                </a:lnTo>
                <a:lnTo>
                  <a:pt x="7009510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169ADC0E-7CCC-E168-7C20-B7119DB8CA59}"/>
              </a:ext>
            </a:extLst>
          </p:cNvPr>
          <p:cNvSpPr/>
          <p:nvPr/>
        </p:nvSpPr>
        <p:spPr>
          <a:xfrm>
            <a:off x="2472182" y="6174943"/>
            <a:ext cx="7009765" cy="79375"/>
          </a:xfrm>
          <a:custGeom>
            <a:avLst/>
            <a:gdLst/>
            <a:ahLst/>
            <a:cxnLst/>
            <a:rect l="l" t="t" r="r" b="b"/>
            <a:pathLst>
              <a:path w="7009765" h="79375">
                <a:moveTo>
                  <a:pt x="0" y="79247"/>
                </a:moveTo>
                <a:lnTo>
                  <a:pt x="7009510" y="79247"/>
                </a:lnTo>
                <a:lnTo>
                  <a:pt x="7009510" y="0"/>
                </a:lnTo>
                <a:lnTo>
                  <a:pt x="0" y="0"/>
                </a:lnTo>
                <a:lnTo>
                  <a:pt x="0" y="79247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4E82A292-EC83-5365-2F62-2AD6210FD51D}"/>
              </a:ext>
            </a:extLst>
          </p:cNvPr>
          <p:cNvSpPr/>
          <p:nvPr/>
        </p:nvSpPr>
        <p:spPr>
          <a:xfrm>
            <a:off x="2466086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1C67D7A1-4BE9-2552-F885-1095B4C5BBBA}"/>
              </a:ext>
            </a:extLst>
          </p:cNvPr>
          <p:cNvSpPr/>
          <p:nvPr/>
        </p:nvSpPr>
        <p:spPr>
          <a:xfrm>
            <a:off x="2472182" y="6781494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2"/>
                </a:moveTo>
                <a:lnTo>
                  <a:pt x="7009510" y="12192"/>
                </a:lnTo>
                <a:lnTo>
                  <a:pt x="7009510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3E40AD4C-015D-ACCF-7709-17EBFEB5C507}"/>
              </a:ext>
            </a:extLst>
          </p:cNvPr>
          <p:cNvSpPr/>
          <p:nvPr/>
        </p:nvSpPr>
        <p:spPr>
          <a:xfrm>
            <a:off x="9487789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1">
            <a:extLst>
              <a:ext uri="{FF2B5EF4-FFF2-40B4-BE49-F238E27FC236}">
                <a16:creationId xmlns:a16="http://schemas.microsoft.com/office/drawing/2014/main" id="{734A4798-FB25-3BCC-1F9A-6FBE649A14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00199" y="591416"/>
            <a:ext cx="9199683" cy="6914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2515" marR="5080" indent="-1096645" algn="ctr">
              <a:lnSpc>
                <a:spcPct val="105300"/>
              </a:lnSpc>
              <a:spcBef>
                <a:spcPts val="100"/>
              </a:spcBef>
            </a:pPr>
            <a:r>
              <a:rPr lang="en-AU" sz="4400">
                <a:latin typeface="+mj-lt"/>
              </a:rPr>
              <a:t>Expected Outcomes</a:t>
            </a:r>
            <a:endParaRPr sz="4400">
              <a:latin typeface="+mj-lt"/>
            </a:endParaRPr>
          </a:p>
        </p:txBody>
      </p:sp>
      <p:sp>
        <p:nvSpPr>
          <p:cNvPr id="16" name="object 3">
            <a:extLst>
              <a:ext uri="{FF2B5EF4-FFF2-40B4-BE49-F238E27FC236}">
                <a16:creationId xmlns:a16="http://schemas.microsoft.com/office/drawing/2014/main" id="{7EFDE551-B488-2016-09A4-6BE54AB0D4C7}"/>
              </a:ext>
            </a:extLst>
          </p:cNvPr>
          <p:cNvSpPr txBox="1"/>
          <p:nvPr/>
        </p:nvSpPr>
        <p:spPr>
          <a:xfrm>
            <a:off x="457200" y="5760755"/>
            <a:ext cx="11582400" cy="259045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12700" algn="just">
              <a:spcBef>
                <a:spcPts val="820"/>
              </a:spcBef>
              <a:tabLst>
                <a:tab pos="241300" algn="l"/>
              </a:tabLst>
            </a:pPr>
            <a:r>
              <a:rPr lang="en-US" sz="10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38602C-1654-6A23-FA5F-927E7DBF155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31</a:t>
            </a:fld>
            <a:endParaRPr lang="x-none"/>
          </a:p>
        </p:txBody>
      </p:sp>
      <p:sp>
        <p:nvSpPr>
          <p:cNvPr id="17" name="Footer Placeholder 7">
            <a:extLst>
              <a:ext uri="{FF2B5EF4-FFF2-40B4-BE49-F238E27FC236}">
                <a16:creationId xmlns:a16="http://schemas.microsoft.com/office/drawing/2014/main" id="{55CF79EF-FB0D-1BDF-0972-68051189ED7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1, Department of Computer Science, </a:t>
            </a:r>
            <a:r>
              <a:rPr lang="en-US" err="1"/>
              <a:t>Barani</a:t>
            </a:r>
            <a:r>
              <a:rPr lang="en-US"/>
              <a:t> Institute of Management Sciences, Rawalpindi </a:t>
            </a:r>
            <a:endParaRPr lang="en-US" spc="-5"/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5119300C-5016-012A-79C7-CCC9BF1D35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6900" y="3025444"/>
            <a:ext cx="84582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1511DC-70C9-7316-F9C3-61AD3E2687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6900" y="2840778"/>
            <a:ext cx="4732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240C6FF-8CE6-3DC8-0F8C-37BB6BE5B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9440" y="1714957"/>
            <a:ext cx="96012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GB" sz="2400">
                <a:ea typeface="+mn-lt"/>
                <a:cs typeface="+mn-lt"/>
              </a:rPr>
              <a:t>Upon full completion, the system will serve as a functional, demonstrable, and extensible AI-powered travel assistant.</a:t>
            </a:r>
            <a:endParaRPr lang="en-US" sz="2400">
              <a:ea typeface="Calibri"/>
              <a:cs typeface="Calibri"/>
            </a:endParaRPr>
          </a:p>
          <a:p>
            <a:endParaRPr lang="en-GB" sz="2400" b="1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GB" sz="2400">
                <a:ea typeface="+mn-lt"/>
                <a:cs typeface="+mn-lt"/>
              </a:rPr>
              <a:t>Fully functional cross-platform app (Android + iOS)</a:t>
            </a:r>
            <a:endParaRPr lang="en-GB" sz="240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GB" sz="2400">
                <a:ea typeface="+mn-lt"/>
                <a:cs typeface="+mn-lt"/>
              </a:rPr>
              <a:t>NLP-driven route and POI recommendations from live data</a:t>
            </a:r>
            <a:endParaRPr lang="en-GB" sz="240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GB" sz="2400" dirty="0">
                <a:ea typeface="+mn-lt"/>
                <a:cs typeface="+mn-lt"/>
              </a:rPr>
              <a:t>Live </a:t>
            </a:r>
            <a:r>
              <a:rPr lang="en-GB" sz="2400" dirty="0" err="1">
                <a:ea typeface="+mn-lt"/>
                <a:cs typeface="+mn-lt"/>
              </a:rPr>
              <a:t>Supabase</a:t>
            </a:r>
            <a:r>
              <a:rPr lang="en-GB" sz="2400" dirty="0">
                <a:ea typeface="+mn-lt"/>
                <a:cs typeface="+mn-lt"/>
              </a:rPr>
              <a:t> backend replacing hardcoded dummy data</a:t>
            </a:r>
            <a:endParaRPr lang="en-GB" sz="2400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GB" sz="2400" dirty="0">
                <a:ea typeface="+mn-lt"/>
                <a:cs typeface="+mn-lt"/>
              </a:rPr>
              <a:t>Dynamic </a:t>
            </a:r>
            <a:r>
              <a:rPr lang="en-GB" sz="2400" dirty="0" err="1">
                <a:ea typeface="+mn-lt"/>
                <a:cs typeface="+mn-lt"/>
              </a:rPr>
              <a:t>Unsplash</a:t>
            </a:r>
            <a:r>
              <a:rPr lang="en-GB" sz="2400" dirty="0">
                <a:ea typeface="+mn-lt"/>
                <a:cs typeface="+mn-lt"/>
              </a:rPr>
              <a:t> imagery fully integrated</a:t>
            </a:r>
            <a:endParaRPr lang="en-GB" sz="2400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GB" sz="2400">
                <a:ea typeface="+mn-lt"/>
                <a:cs typeface="+mn-lt"/>
              </a:rPr>
              <a:t>Practical demonstration of AI in the travel domain</a:t>
            </a:r>
            <a:endParaRPr lang="en-GB" sz="240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GB" sz="2400">
                <a:ea typeface="+mn-lt"/>
                <a:cs typeface="+mn-lt"/>
              </a:rPr>
              <a:t>Foundation for a commercial Pakistani tourism platform</a:t>
            </a:r>
            <a:endParaRPr lang="en-GB" sz="2400"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305683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3F10F-08C2-C782-BC9F-FB1B71F82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83D3ED61-E907-F1E1-E20B-B831EDAD7349}"/>
              </a:ext>
            </a:extLst>
          </p:cNvPr>
          <p:cNvSpPr/>
          <p:nvPr/>
        </p:nvSpPr>
        <p:spPr>
          <a:xfrm>
            <a:off x="2472182" y="6254191"/>
            <a:ext cx="7009765" cy="527685"/>
          </a:xfrm>
          <a:custGeom>
            <a:avLst/>
            <a:gdLst/>
            <a:ahLst/>
            <a:cxnLst/>
            <a:rect l="l" t="t" r="r" b="b"/>
            <a:pathLst>
              <a:path w="7009765" h="527684">
                <a:moveTo>
                  <a:pt x="0" y="527303"/>
                </a:moveTo>
                <a:lnTo>
                  <a:pt x="7009510" y="527303"/>
                </a:lnTo>
                <a:lnTo>
                  <a:pt x="7009510" y="0"/>
                </a:lnTo>
                <a:lnTo>
                  <a:pt x="0" y="0"/>
                </a:lnTo>
                <a:lnTo>
                  <a:pt x="0" y="527303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472DAFBD-0C9D-5067-CF45-7E129FA82B20}"/>
              </a:ext>
            </a:extLst>
          </p:cNvPr>
          <p:cNvSpPr/>
          <p:nvPr/>
        </p:nvSpPr>
        <p:spPr>
          <a:xfrm>
            <a:off x="2539238" y="6470599"/>
            <a:ext cx="6875780" cy="218440"/>
          </a:xfrm>
          <a:custGeom>
            <a:avLst/>
            <a:gdLst/>
            <a:ahLst/>
            <a:cxnLst/>
            <a:rect l="l" t="t" r="r" b="b"/>
            <a:pathLst>
              <a:path w="6875780" h="218440">
                <a:moveTo>
                  <a:pt x="0" y="217932"/>
                </a:moveTo>
                <a:lnTo>
                  <a:pt x="6875398" y="217932"/>
                </a:lnTo>
                <a:lnTo>
                  <a:pt x="6875398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E0A78477-42DB-551D-02E2-0C27C1B6FE45}"/>
              </a:ext>
            </a:extLst>
          </p:cNvPr>
          <p:cNvSpPr/>
          <p:nvPr/>
        </p:nvSpPr>
        <p:spPr>
          <a:xfrm>
            <a:off x="2472182" y="6162751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1"/>
                </a:moveTo>
                <a:lnTo>
                  <a:pt x="7009510" y="12191"/>
                </a:lnTo>
                <a:lnTo>
                  <a:pt x="7009510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EC1EBE48-A31E-13B7-B428-35C0694551D3}"/>
              </a:ext>
            </a:extLst>
          </p:cNvPr>
          <p:cNvSpPr/>
          <p:nvPr/>
        </p:nvSpPr>
        <p:spPr>
          <a:xfrm>
            <a:off x="2472182" y="6174943"/>
            <a:ext cx="7009765" cy="79375"/>
          </a:xfrm>
          <a:custGeom>
            <a:avLst/>
            <a:gdLst/>
            <a:ahLst/>
            <a:cxnLst/>
            <a:rect l="l" t="t" r="r" b="b"/>
            <a:pathLst>
              <a:path w="7009765" h="79375">
                <a:moveTo>
                  <a:pt x="0" y="79247"/>
                </a:moveTo>
                <a:lnTo>
                  <a:pt x="7009510" y="79247"/>
                </a:lnTo>
                <a:lnTo>
                  <a:pt x="7009510" y="0"/>
                </a:lnTo>
                <a:lnTo>
                  <a:pt x="0" y="0"/>
                </a:lnTo>
                <a:lnTo>
                  <a:pt x="0" y="79247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80670834-5095-264A-82B5-2799D7EABCBC}"/>
              </a:ext>
            </a:extLst>
          </p:cNvPr>
          <p:cNvSpPr/>
          <p:nvPr/>
        </p:nvSpPr>
        <p:spPr>
          <a:xfrm>
            <a:off x="2466086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A7920E25-54EE-BF2E-1C50-00C397251167}"/>
              </a:ext>
            </a:extLst>
          </p:cNvPr>
          <p:cNvSpPr/>
          <p:nvPr/>
        </p:nvSpPr>
        <p:spPr>
          <a:xfrm>
            <a:off x="2472182" y="6781494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2"/>
                </a:moveTo>
                <a:lnTo>
                  <a:pt x="7009510" y="12192"/>
                </a:lnTo>
                <a:lnTo>
                  <a:pt x="7009510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303B1854-ADB1-BA56-D0F3-FAAA4986A056}"/>
              </a:ext>
            </a:extLst>
          </p:cNvPr>
          <p:cNvSpPr/>
          <p:nvPr/>
        </p:nvSpPr>
        <p:spPr>
          <a:xfrm>
            <a:off x="9487789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1">
            <a:extLst>
              <a:ext uri="{FF2B5EF4-FFF2-40B4-BE49-F238E27FC236}">
                <a16:creationId xmlns:a16="http://schemas.microsoft.com/office/drawing/2014/main" id="{0E8FB229-17A8-9B04-6F40-C5B399E111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00200" y="584632"/>
            <a:ext cx="9199683" cy="6914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2515" marR="5080" indent="-1096645" algn="ctr">
              <a:lnSpc>
                <a:spcPct val="105300"/>
              </a:lnSpc>
              <a:spcBef>
                <a:spcPts val="100"/>
              </a:spcBef>
            </a:pPr>
            <a:r>
              <a:rPr lang="en-AU" sz="4400">
                <a:latin typeface="+mj-lt"/>
              </a:rPr>
              <a:t>Conclusions</a:t>
            </a:r>
            <a:endParaRPr sz="4400">
              <a:latin typeface="+mj-l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DBAC28-A79E-1833-3E6E-2BE228B93C1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32</a:t>
            </a:fld>
            <a:endParaRPr lang="x-none"/>
          </a:p>
        </p:txBody>
      </p:sp>
      <p:sp>
        <p:nvSpPr>
          <p:cNvPr id="17" name="Footer Placeholder 7">
            <a:extLst>
              <a:ext uri="{FF2B5EF4-FFF2-40B4-BE49-F238E27FC236}">
                <a16:creationId xmlns:a16="http://schemas.microsoft.com/office/drawing/2014/main" id="{AD46FF9C-0986-A953-22C3-C4C78318ACE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1, Department of Computer Science, </a:t>
            </a:r>
            <a:r>
              <a:rPr lang="en-US" err="1"/>
              <a:t>Barani</a:t>
            </a:r>
            <a:r>
              <a:rPr lang="en-US"/>
              <a:t> Institute of Management Sciences, Rawalpindi </a:t>
            </a:r>
            <a:endParaRPr lang="en-US" spc="-5"/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439D132B-A3E1-D460-8AC1-172A26F35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6900" y="3025444"/>
            <a:ext cx="84582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4DF55B-2F66-9FBB-C72B-646EAE3EF7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6900" y="2840778"/>
            <a:ext cx="4732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77CBB40-74F0-EF37-B995-70B64564C6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2656114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A242CC-0020-6C9D-4D5B-7003EC1D7D11}"/>
              </a:ext>
            </a:extLst>
          </p:cNvPr>
          <p:cNvSpPr txBox="1"/>
          <p:nvPr/>
        </p:nvSpPr>
        <p:spPr>
          <a:xfrm>
            <a:off x="1704241" y="1325542"/>
            <a:ext cx="8991600" cy="45243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2400" dirty="0">
                <a:ea typeface="+mn-lt"/>
                <a:cs typeface="+mn-lt"/>
              </a:rPr>
              <a:t>The AI-Based Travel Assistant bridges the gap between navigation and tourism in a unified, intelligent mobile application built on Flutter, Python, </a:t>
            </a:r>
            <a:r>
              <a:rPr lang="en-GB" sz="2400" dirty="0" err="1">
                <a:ea typeface="+mn-lt"/>
                <a:cs typeface="+mn-lt"/>
              </a:rPr>
              <a:t>Supabase</a:t>
            </a:r>
            <a:r>
              <a:rPr lang="en-GB" sz="2400" dirty="0">
                <a:ea typeface="+mn-lt"/>
                <a:cs typeface="+mn-lt"/>
              </a:rPr>
              <a:t>, and </a:t>
            </a:r>
            <a:r>
              <a:rPr lang="en-GB" sz="2400" dirty="0" err="1">
                <a:ea typeface="+mn-lt"/>
                <a:cs typeface="+mn-lt"/>
              </a:rPr>
              <a:t>Unsplash</a:t>
            </a:r>
            <a:r>
              <a:rPr lang="en-GB" sz="2400">
                <a:ea typeface="+mn-lt"/>
                <a:cs typeface="+mn-lt"/>
              </a:rPr>
              <a:t> API.</a:t>
            </a:r>
            <a:endParaRPr lang="en-US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GB" sz="2400">
                <a:ea typeface="+mn-lt"/>
                <a:cs typeface="+mn-lt"/>
              </a:rPr>
              <a:t>Combines NLP, cloud database, REST APIs, and cross-platform mobile in one system</a:t>
            </a:r>
            <a:endParaRPr lang="en-GB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GB" sz="2400">
                <a:ea typeface="+mn-lt"/>
                <a:cs typeface="+mn-lt"/>
              </a:rPr>
              <a:t>17 app screens fully designed and implemented in Flutter</a:t>
            </a:r>
            <a:endParaRPr lang="en-GB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GB" sz="2400">
                <a:ea typeface="+mn-lt"/>
                <a:cs typeface="+mn-lt"/>
              </a:rPr>
              <a:t>All 5 UML diagrams completed — Use Case, Sequence, Activity, Class, Roles</a:t>
            </a:r>
            <a:endParaRPr lang="en-GB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GB" sz="2400" dirty="0">
                <a:ea typeface="+mn-lt"/>
                <a:cs typeface="+mn-lt"/>
              </a:rPr>
              <a:t>Agile methodology ensured steady, testable progress across all modules</a:t>
            </a:r>
            <a:endParaRPr lang="en-GB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GB" sz="2400">
                <a:ea typeface="+mn-lt"/>
                <a:cs typeface="+mn-lt"/>
              </a:rPr>
              <a:t>System ready for live data integration and production deployment</a:t>
            </a:r>
            <a:endParaRPr lang="en-GB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en-GB" sz="24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056375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AA792-F938-C45C-F6FA-FC774BF7C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19FA26E6-F5E4-6D7D-E492-8319D67F63D6}"/>
              </a:ext>
            </a:extLst>
          </p:cNvPr>
          <p:cNvSpPr/>
          <p:nvPr/>
        </p:nvSpPr>
        <p:spPr>
          <a:xfrm>
            <a:off x="2472182" y="6254191"/>
            <a:ext cx="7009765" cy="527685"/>
          </a:xfrm>
          <a:custGeom>
            <a:avLst/>
            <a:gdLst/>
            <a:ahLst/>
            <a:cxnLst/>
            <a:rect l="l" t="t" r="r" b="b"/>
            <a:pathLst>
              <a:path w="7009765" h="527684">
                <a:moveTo>
                  <a:pt x="0" y="527303"/>
                </a:moveTo>
                <a:lnTo>
                  <a:pt x="7009510" y="527303"/>
                </a:lnTo>
                <a:lnTo>
                  <a:pt x="7009510" y="0"/>
                </a:lnTo>
                <a:lnTo>
                  <a:pt x="0" y="0"/>
                </a:lnTo>
                <a:lnTo>
                  <a:pt x="0" y="527303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A9A61158-FE62-B259-D7A0-2A46948C950B}"/>
              </a:ext>
            </a:extLst>
          </p:cNvPr>
          <p:cNvSpPr/>
          <p:nvPr/>
        </p:nvSpPr>
        <p:spPr>
          <a:xfrm>
            <a:off x="2539238" y="6470599"/>
            <a:ext cx="6875780" cy="218440"/>
          </a:xfrm>
          <a:custGeom>
            <a:avLst/>
            <a:gdLst/>
            <a:ahLst/>
            <a:cxnLst/>
            <a:rect l="l" t="t" r="r" b="b"/>
            <a:pathLst>
              <a:path w="6875780" h="218440">
                <a:moveTo>
                  <a:pt x="0" y="217932"/>
                </a:moveTo>
                <a:lnTo>
                  <a:pt x="6875398" y="217932"/>
                </a:lnTo>
                <a:lnTo>
                  <a:pt x="6875398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A217ADF5-63B1-0279-6380-CCCE6CC34DB3}"/>
              </a:ext>
            </a:extLst>
          </p:cNvPr>
          <p:cNvSpPr/>
          <p:nvPr/>
        </p:nvSpPr>
        <p:spPr>
          <a:xfrm>
            <a:off x="2472182" y="6162751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1"/>
                </a:moveTo>
                <a:lnTo>
                  <a:pt x="7009510" y="12191"/>
                </a:lnTo>
                <a:lnTo>
                  <a:pt x="7009510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FAC5D946-EEC0-B2B7-2894-01085C08D1FF}"/>
              </a:ext>
            </a:extLst>
          </p:cNvPr>
          <p:cNvSpPr/>
          <p:nvPr/>
        </p:nvSpPr>
        <p:spPr>
          <a:xfrm>
            <a:off x="2472182" y="6174943"/>
            <a:ext cx="7009765" cy="79375"/>
          </a:xfrm>
          <a:custGeom>
            <a:avLst/>
            <a:gdLst/>
            <a:ahLst/>
            <a:cxnLst/>
            <a:rect l="l" t="t" r="r" b="b"/>
            <a:pathLst>
              <a:path w="7009765" h="79375">
                <a:moveTo>
                  <a:pt x="0" y="79247"/>
                </a:moveTo>
                <a:lnTo>
                  <a:pt x="7009510" y="79247"/>
                </a:lnTo>
                <a:lnTo>
                  <a:pt x="7009510" y="0"/>
                </a:lnTo>
                <a:lnTo>
                  <a:pt x="0" y="0"/>
                </a:lnTo>
                <a:lnTo>
                  <a:pt x="0" y="79247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3E62A1E6-4618-2D70-FC8D-AACC3ADE3328}"/>
              </a:ext>
            </a:extLst>
          </p:cNvPr>
          <p:cNvSpPr/>
          <p:nvPr/>
        </p:nvSpPr>
        <p:spPr>
          <a:xfrm>
            <a:off x="2466086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0361E78C-0195-60EA-3568-04D63E88186C}"/>
              </a:ext>
            </a:extLst>
          </p:cNvPr>
          <p:cNvSpPr/>
          <p:nvPr/>
        </p:nvSpPr>
        <p:spPr>
          <a:xfrm>
            <a:off x="2472182" y="6781494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2"/>
                </a:moveTo>
                <a:lnTo>
                  <a:pt x="7009510" y="12192"/>
                </a:lnTo>
                <a:lnTo>
                  <a:pt x="7009510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FE5F936E-9440-6C4C-4F3B-E919F7E1429E}"/>
              </a:ext>
            </a:extLst>
          </p:cNvPr>
          <p:cNvSpPr/>
          <p:nvPr/>
        </p:nvSpPr>
        <p:spPr>
          <a:xfrm>
            <a:off x="9487789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1">
            <a:extLst>
              <a:ext uri="{FF2B5EF4-FFF2-40B4-BE49-F238E27FC236}">
                <a16:creationId xmlns:a16="http://schemas.microsoft.com/office/drawing/2014/main" id="{EDF18245-F868-9738-FD65-E982913D55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00200" y="584632"/>
            <a:ext cx="9199683" cy="6914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2515" marR="5080" indent="-1096645" algn="ctr">
              <a:lnSpc>
                <a:spcPct val="105300"/>
              </a:lnSpc>
              <a:spcBef>
                <a:spcPts val="100"/>
              </a:spcBef>
            </a:pPr>
            <a:r>
              <a:rPr lang="en-US" sz="4400">
                <a:latin typeface="+mj-lt"/>
              </a:rPr>
              <a:t>References</a:t>
            </a:r>
            <a:endParaRPr sz="4400">
              <a:latin typeface="+mj-l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6229E0-ECD1-5976-957D-31149799EFB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33</a:t>
            </a:fld>
            <a:endParaRPr lang="x-none"/>
          </a:p>
        </p:txBody>
      </p:sp>
      <p:sp>
        <p:nvSpPr>
          <p:cNvPr id="17" name="Footer Placeholder 7">
            <a:extLst>
              <a:ext uri="{FF2B5EF4-FFF2-40B4-BE49-F238E27FC236}">
                <a16:creationId xmlns:a16="http://schemas.microsoft.com/office/drawing/2014/main" id="{27C0EDBC-88E1-9AED-00FB-D0858A20D0F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1, Department of Computer Science, </a:t>
            </a:r>
            <a:r>
              <a:rPr lang="en-US" err="1"/>
              <a:t>Barani</a:t>
            </a:r>
            <a:r>
              <a:rPr lang="en-US"/>
              <a:t> Institute of Management Sciences, Rawalpindi </a:t>
            </a:r>
            <a:endParaRPr lang="en-US" spc="-5"/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3E821599-E671-E82C-90BB-D30F58C9C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6900" y="3025444"/>
            <a:ext cx="84582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CA5616-83AD-A23D-66AB-AEAF438957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6900" y="2840778"/>
            <a:ext cx="4732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27C9C0E-6F0D-D6FA-8A01-3C06E4A264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2656114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FA74F5-86B3-FFC8-6915-9488EB9E631E}"/>
              </a:ext>
            </a:extLst>
          </p:cNvPr>
          <p:cNvSpPr txBox="1"/>
          <p:nvPr/>
        </p:nvSpPr>
        <p:spPr>
          <a:xfrm>
            <a:off x="1704241" y="1358672"/>
            <a:ext cx="8991600" cy="470898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AU" sz="2000">
                <a:ea typeface="+mn-lt"/>
                <a:cs typeface="+mn-lt"/>
              </a:rPr>
              <a:t>"Tourism Recommendation System: A Systematic Review," IJERT, 2021</a:t>
            </a:r>
            <a:endParaRPr lang="en-US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AU" sz="2000">
                <a:ea typeface="+mn-lt"/>
                <a:cs typeface="+mn-lt"/>
              </a:rPr>
              <a:t>"Artificial Intelligence in Tourism: A Systematic Literature Review," Sustainability (MDPI), 2025</a:t>
            </a:r>
            <a:endParaRPr lang="en-AU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AU" sz="2000">
                <a:ea typeface="+mn-lt"/>
                <a:cs typeface="+mn-lt"/>
              </a:rPr>
              <a:t>"A Systematic Survey of Tourism Recommender System Techniques," Journal of IoT, 2022</a:t>
            </a:r>
            <a:endParaRPr lang="en-AU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AU" sz="2000">
                <a:ea typeface="+mn-lt"/>
                <a:cs typeface="+mn-lt"/>
              </a:rPr>
              <a:t>"Machine Learning Predictive Model for Intelligent Tourism Recommendation," JART, 2025</a:t>
            </a:r>
            <a:endParaRPr lang="en-AU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AU" sz="2000">
                <a:ea typeface="+mn-lt"/>
                <a:cs typeface="+mn-lt"/>
              </a:rPr>
              <a:t>"A Hybrid Tourism Recommendation System," AIJCST, 2026</a:t>
            </a:r>
            <a:endParaRPr lang="en-AU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AU" sz="2000">
                <a:ea typeface="+mn-lt"/>
                <a:cs typeface="+mn-lt"/>
              </a:rPr>
              <a:t>"Artificial Intelligence Innovation of Tourism Businesses," IJIM, 2024</a:t>
            </a:r>
            <a:endParaRPr lang="en-AU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AU" sz="2000">
                <a:ea typeface="+mn-lt"/>
                <a:cs typeface="+mn-lt"/>
              </a:rPr>
              <a:t>"Smart Tourism Recommendation Model," IJACSA, 2021</a:t>
            </a:r>
            <a:endParaRPr lang="en-AU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AU" sz="2000" dirty="0">
                <a:ea typeface="+mn-lt"/>
                <a:cs typeface="+mn-lt"/>
              </a:rPr>
              <a:t>"Travel Agent: An AI Assistant for Personalized Travel Planning," </a:t>
            </a:r>
            <a:r>
              <a:rPr lang="en-AU" sz="2000" dirty="0" err="1">
                <a:ea typeface="+mn-lt"/>
                <a:cs typeface="+mn-lt"/>
              </a:rPr>
              <a:t>arXiv</a:t>
            </a:r>
            <a:r>
              <a:rPr lang="en-AU" sz="2000" dirty="0">
                <a:ea typeface="+mn-lt"/>
                <a:cs typeface="+mn-lt"/>
              </a:rPr>
              <a:t>, 2024</a:t>
            </a:r>
            <a:endParaRPr lang="en-AU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AU" sz="2000" dirty="0">
                <a:ea typeface="+mn-lt"/>
                <a:cs typeface="+mn-lt"/>
              </a:rPr>
              <a:t>"Enhancing Tourism Recommender Systems Using RAG," </a:t>
            </a:r>
            <a:r>
              <a:rPr lang="en-AU" sz="2000" dirty="0" err="1">
                <a:ea typeface="+mn-lt"/>
                <a:cs typeface="+mn-lt"/>
              </a:rPr>
              <a:t>arXiv</a:t>
            </a:r>
            <a:r>
              <a:rPr lang="en-AU" sz="2000" dirty="0">
                <a:ea typeface="+mn-lt"/>
                <a:cs typeface="+mn-lt"/>
              </a:rPr>
              <a:t>, 2024</a:t>
            </a:r>
            <a:endParaRPr lang="en-AU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AU" sz="2000">
                <a:ea typeface="+mn-lt"/>
                <a:cs typeface="+mn-lt"/>
              </a:rPr>
              <a:t>"Collaborative Filtering for Personalized Travel Recommendation," ACM Transactions, 2020</a:t>
            </a:r>
            <a:endParaRPr lang="en-AU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en-AU" sz="20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360000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D7285-8022-2F39-780B-ADA2C1BFC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67342854-650A-992F-64AC-2F2D0BDA52C1}"/>
              </a:ext>
            </a:extLst>
          </p:cNvPr>
          <p:cNvSpPr/>
          <p:nvPr/>
        </p:nvSpPr>
        <p:spPr>
          <a:xfrm>
            <a:off x="2472182" y="6254191"/>
            <a:ext cx="7009765" cy="527685"/>
          </a:xfrm>
          <a:custGeom>
            <a:avLst/>
            <a:gdLst/>
            <a:ahLst/>
            <a:cxnLst/>
            <a:rect l="l" t="t" r="r" b="b"/>
            <a:pathLst>
              <a:path w="7009765" h="527684">
                <a:moveTo>
                  <a:pt x="0" y="527303"/>
                </a:moveTo>
                <a:lnTo>
                  <a:pt x="7009510" y="527303"/>
                </a:lnTo>
                <a:lnTo>
                  <a:pt x="7009510" y="0"/>
                </a:lnTo>
                <a:lnTo>
                  <a:pt x="0" y="0"/>
                </a:lnTo>
                <a:lnTo>
                  <a:pt x="0" y="527303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A2DF0A96-65D7-6B46-2C3F-F2E0A1A89903}"/>
              </a:ext>
            </a:extLst>
          </p:cNvPr>
          <p:cNvSpPr/>
          <p:nvPr/>
        </p:nvSpPr>
        <p:spPr>
          <a:xfrm>
            <a:off x="2539238" y="6470599"/>
            <a:ext cx="6875780" cy="218440"/>
          </a:xfrm>
          <a:custGeom>
            <a:avLst/>
            <a:gdLst/>
            <a:ahLst/>
            <a:cxnLst/>
            <a:rect l="l" t="t" r="r" b="b"/>
            <a:pathLst>
              <a:path w="6875780" h="218440">
                <a:moveTo>
                  <a:pt x="0" y="217932"/>
                </a:moveTo>
                <a:lnTo>
                  <a:pt x="6875398" y="217932"/>
                </a:lnTo>
                <a:lnTo>
                  <a:pt x="6875398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11EB7231-EEA9-CE11-092B-F734F9942FD5}"/>
              </a:ext>
            </a:extLst>
          </p:cNvPr>
          <p:cNvSpPr/>
          <p:nvPr/>
        </p:nvSpPr>
        <p:spPr>
          <a:xfrm>
            <a:off x="2472182" y="6162751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1"/>
                </a:moveTo>
                <a:lnTo>
                  <a:pt x="7009510" y="12191"/>
                </a:lnTo>
                <a:lnTo>
                  <a:pt x="7009510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03DC7017-85E5-90A6-3297-25858575D31C}"/>
              </a:ext>
            </a:extLst>
          </p:cNvPr>
          <p:cNvSpPr/>
          <p:nvPr/>
        </p:nvSpPr>
        <p:spPr>
          <a:xfrm>
            <a:off x="2472182" y="6174943"/>
            <a:ext cx="7009765" cy="79375"/>
          </a:xfrm>
          <a:custGeom>
            <a:avLst/>
            <a:gdLst/>
            <a:ahLst/>
            <a:cxnLst/>
            <a:rect l="l" t="t" r="r" b="b"/>
            <a:pathLst>
              <a:path w="7009765" h="79375">
                <a:moveTo>
                  <a:pt x="0" y="79247"/>
                </a:moveTo>
                <a:lnTo>
                  <a:pt x="7009510" y="79247"/>
                </a:lnTo>
                <a:lnTo>
                  <a:pt x="7009510" y="0"/>
                </a:lnTo>
                <a:lnTo>
                  <a:pt x="0" y="0"/>
                </a:lnTo>
                <a:lnTo>
                  <a:pt x="0" y="79247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3B5DA6DD-452A-25FF-EF02-AD84D3983EBF}"/>
              </a:ext>
            </a:extLst>
          </p:cNvPr>
          <p:cNvSpPr/>
          <p:nvPr/>
        </p:nvSpPr>
        <p:spPr>
          <a:xfrm>
            <a:off x="2466086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F2B2796D-0ECF-6D9B-74FF-58D6583E8FB8}"/>
              </a:ext>
            </a:extLst>
          </p:cNvPr>
          <p:cNvSpPr/>
          <p:nvPr/>
        </p:nvSpPr>
        <p:spPr>
          <a:xfrm>
            <a:off x="2472182" y="6781494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2"/>
                </a:moveTo>
                <a:lnTo>
                  <a:pt x="7009510" y="12192"/>
                </a:lnTo>
                <a:lnTo>
                  <a:pt x="7009510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164D5CE9-22DC-8461-366B-811A83306B50}"/>
              </a:ext>
            </a:extLst>
          </p:cNvPr>
          <p:cNvSpPr/>
          <p:nvPr/>
        </p:nvSpPr>
        <p:spPr>
          <a:xfrm>
            <a:off x="9487789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1">
            <a:extLst>
              <a:ext uri="{FF2B5EF4-FFF2-40B4-BE49-F238E27FC236}">
                <a16:creationId xmlns:a16="http://schemas.microsoft.com/office/drawing/2014/main" id="{F1395D86-D98D-D5CC-47CE-5816CB7301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9330" y="2732588"/>
            <a:ext cx="9199683" cy="694998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072515" marR="5080" indent="-1096645" algn="ctr">
              <a:lnSpc>
                <a:spcPct val="105300"/>
              </a:lnSpc>
              <a:spcBef>
                <a:spcPts val="100"/>
              </a:spcBef>
            </a:pPr>
            <a:r>
              <a:rPr lang="en-US" sz="4400">
                <a:latin typeface="+mj-lt"/>
              </a:rPr>
              <a:t>Thank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7DE9A6-D9BA-4F27-39DD-AC4B3F4B840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34</a:t>
            </a:fld>
            <a:endParaRPr lang="x-none"/>
          </a:p>
        </p:txBody>
      </p:sp>
      <p:sp>
        <p:nvSpPr>
          <p:cNvPr id="17" name="Footer Placeholder 7">
            <a:extLst>
              <a:ext uri="{FF2B5EF4-FFF2-40B4-BE49-F238E27FC236}">
                <a16:creationId xmlns:a16="http://schemas.microsoft.com/office/drawing/2014/main" id="{8A6606FF-F970-8DFC-8931-2BA4AAE2846E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1, Department of Computer Science, </a:t>
            </a:r>
            <a:r>
              <a:rPr lang="en-US" err="1"/>
              <a:t>Barani</a:t>
            </a:r>
            <a:r>
              <a:rPr lang="en-US"/>
              <a:t> Institute of Management Sciences, Rawalpindi </a:t>
            </a:r>
            <a:endParaRPr lang="en-US" spc="-5"/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1625CC99-57EB-0C62-EC2F-2A0BDF63C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6900" y="3025444"/>
            <a:ext cx="84582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9F4358-EDFB-6BB8-EBE9-116A3B183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6900" y="2840778"/>
            <a:ext cx="4732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85BC29E-752D-0D84-A922-973EFEF9B3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2656114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0488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A2FC6D46D9CA94A908574E96ACAE827" ma:contentTypeVersion="10" ma:contentTypeDescription="Create a new document." ma:contentTypeScope="" ma:versionID="0e31cd35e8032ebd9045e102ebce3542">
  <xsd:schema xmlns:xsd="http://www.w3.org/2001/XMLSchema" xmlns:xs="http://www.w3.org/2001/XMLSchema" xmlns:p="http://schemas.microsoft.com/office/2006/metadata/properties" xmlns:ns2="048d7129-d959-4121-ad64-d390d2e84076" xmlns:ns3="72bfaa11-99c6-498c-857f-9dce0584d807" targetNamespace="http://schemas.microsoft.com/office/2006/metadata/properties" ma:root="true" ma:fieldsID="735e4d3af72da288468d3ac36890037d" ns2:_="" ns3:_="">
    <xsd:import namespace="048d7129-d959-4121-ad64-d390d2e84076"/>
    <xsd:import namespace="72bfaa11-99c6-498c-857f-9dce0584d8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8d7129-d959-4121-ad64-d390d2e8407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bfaa11-99c6-498c-857f-9dce0584d807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2bfaa11-99c6-498c-857f-9dce0584d807">
      <UserInfo>
        <DisplayName>Graduate Program Members</DisplayName>
        <AccountId>7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6A796F07-EB3B-4EE7-886F-F4117F511BCD}">
  <ds:schemaRefs>
    <ds:schemaRef ds:uri="048d7129-d959-4121-ad64-d390d2e84076"/>
    <ds:schemaRef ds:uri="72bfaa11-99c6-498c-857f-9dce0584d80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17B91FE-9E32-40EB-A23B-310C73BCE99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47A3023-05EC-49F0-9D3F-78DBA0FB32A1}">
  <ds:schemaRefs>
    <ds:schemaRef ds:uri="048d7129-d959-4121-ad64-d390d2e84076"/>
    <ds:schemaRef ds:uri="72bfaa11-99c6-498c-857f-9dce0584d80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34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Office Theme</vt:lpstr>
      <vt:lpstr>AI Based Travel Assistant</vt:lpstr>
      <vt:lpstr>Introduction </vt:lpstr>
      <vt:lpstr>Relevance to Course Modules </vt:lpstr>
      <vt:lpstr>Existing Systems </vt:lpstr>
      <vt:lpstr>Literature Review </vt:lpstr>
      <vt:lpstr>Problem Statement</vt:lpstr>
      <vt:lpstr>Proposed Solution (System Model)</vt:lpstr>
      <vt:lpstr>System Architecture</vt:lpstr>
      <vt:lpstr>Methodology &amp; Software Lifecycle</vt:lpstr>
      <vt:lpstr>Why Agile?</vt:lpstr>
      <vt:lpstr>Tools and Technology</vt:lpstr>
      <vt:lpstr>Use Case Diagram</vt:lpstr>
      <vt:lpstr>PowerPoint Presentation</vt:lpstr>
      <vt:lpstr>Sequence Diagram</vt:lpstr>
      <vt:lpstr>PowerPoint Presentation</vt:lpstr>
      <vt:lpstr>  Activity Diagram</vt:lpstr>
      <vt:lpstr>PowerPoint Presentation</vt:lpstr>
      <vt:lpstr>  Class Diagram</vt:lpstr>
      <vt:lpstr>PowerPoint Presentation</vt:lpstr>
      <vt:lpstr>  Roles Diagram</vt:lpstr>
      <vt:lpstr>PowerPoint Presentation</vt:lpstr>
      <vt:lpstr>Functional Requirements </vt:lpstr>
      <vt:lpstr>Non-Functional Requirements</vt:lpstr>
      <vt:lpstr>PowerPoint Presentation</vt:lpstr>
      <vt:lpstr>PowerPoint Presentation</vt:lpstr>
      <vt:lpstr>PowerPoint Presentation</vt:lpstr>
      <vt:lpstr>PowerPoint Presentation</vt:lpstr>
      <vt:lpstr>Key Features</vt:lpstr>
      <vt:lpstr>Significance</vt:lpstr>
      <vt:lpstr>Challenges &amp; Limitations</vt:lpstr>
      <vt:lpstr>Expected Outcomes</vt:lpstr>
      <vt:lpstr>Conclusions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Middleware for Sensor networks</dc:title>
  <dc:creator>Owner</dc:creator>
  <cp:revision>253</cp:revision>
  <dcterms:created xsi:type="dcterms:W3CDTF">2021-03-13T08:41:48Z</dcterms:created>
  <dcterms:modified xsi:type="dcterms:W3CDTF">2026-04-30T08:16:51Z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2021-03-13T00:00:00Z</vt:filetime>
  </property>
  <property fmtid="{D5CDD505-2E9C-101B-9397-08002B2CF9AE}" pid="3" name="Creator">
    <vt:lpwstr>Microsoft® Word 2016</vt:lpwstr>
  </property>
  <property fmtid="{D5CDD505-2E9C-101B-9397-08002B2CF9AE}" pid="4" name="LastSaved">
    <vt:filetime>2021-03-13T00:00:00Z</vt:filetime>
  </property>
  <property fmtid="{D5CDD505-2E9C-101B-9397-08002B2CF9AE}" pid="5" name="ContentTypeId">
    <vt:lpwstr>0x0101003A2FC6D46D9CA94A908574E96ACAE827</vt:lpwstr>
  </property>
</Properties>
</file>